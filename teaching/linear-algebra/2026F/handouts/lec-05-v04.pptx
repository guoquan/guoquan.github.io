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01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01" r:id="rIdLecture05_1"/>
    <p:sldId id="421" r:id="rIdLecture05_21"/>
    <p:sldId id="422" r:id="rIdLecture05_22"/>
    <p:sldId id="423" r:id="rIdLecture05_23"/>
    <p:sldId id="424" r:id="rIdLecture05_24"/>
    <p:sldId id="425" r:id="rIdLecture05_25"/>
    <p:sldId id="426" r:id="rIdLecture05_26"/>
    <p:sldId id="427" r:id="rIdLecture05_27"/>
    <p:sldId id="428" r:id="rIdLecture05_28"/>
    <p:sldId id="429" r:id="rIdLecture05_29"/>
    <p:sldId id="430" r:id="rIdLecture05_30"/>
    <p:sldId id="431" r:id="rIdLecture05_31"/>
    <p:sldId id="432" r:id="rIdLecture05_32"/>
    <p:sldId id="433" r:id="rIdLecture05_33"/>
    <p:sldId id="434" r:id="rIdLecture05_34"/>
    <p:sldId id="435" r:id="rIdLecture05_35"/>
    <p:sldId id="436" r:id="rIdLecture05_36"/>
    <p:sldId id="437" r:id="rIdLecture05_37"/>
    <p:sldId id="438" r:id="rIdLecture05_38"/>
    <p:sldId id="439" r:id="rIdLecture05_39"/>
    <p:sldId id="440" r:id="rIdLecture05_40"/>
    <p:sldId id="441" r:id="rIdLecture05_41"/>
    <p:sldId id="442" r:id="rIdLecture05_42"/>
    <p:sldId id="443" r:id="rIdLecture05_43"/>
    <p:sldId id="444" r:id="rIdLecture05_44"/>
    <p:sldId id="445" r:id="rIdLecture05_45"/>
    <p:sldId id="446" r:id="rIdLecture05_46"/>
    <p:sldId id="447" r:id="rIdLecture05_47"/>
    <p:sldId id="448" r:id="rIdLecture05_48"/>
    <p:sldId id="449" r:id="rIdLecture05_49"/>
    <p:sldId id="450" r:id="rIdLecture05_50"/>
    <p:sldId id="451" r:id="rIdLecture05_51"/>
    <p:sldId id="452" r:id="rIdLecture05_52"/>
    <p:sldId id="453" r:id="rIdLecture05_53"/>
    <p:sldId id="454" r:id="rIdLecture05_54"/>
    <p:sldId id="455" r:id="rIdLecture05_55"/>
    <p:sldId id="456" r:id="rIdLecture05_56"/>
    <p:sldId id="457" r:id="rIdLecture05_57"/>
    <p:sldId id="458" r:id="rIdLecture05_58"/>
    <p:sldId id="459" r:id="rIdLecture05_59"/>
    <p:sldId id="460" r:id="rIdLecture05_60"/>
    <p:sldId id="461" r:id="rIdLecture05_61"/>
    <p:sldId id="462" r:id="rIdLecture05_62"/>
    <p:sldId id="463" r:id="rIdLecture05_63"/>
    <p:sldId id="464" r:id="rIdLecture05_64"/>
    <p:sldId id="465" r:id="rIdLecture05_65"/>
    <p:sldId id="466" r:id="rIdLecture05_66"/>
    <p:sldId id="467" r:id="rIdLecture05_67"/>
    <p:sldId id="468" r:id="rIdLecture05_68"/>
    <p:sldId id="469" r:id="rIdLecture05_69"/>
    <p:sldId id="470" r:id="rIdLecture05_70"/>
    <p:sldId id="471" r:id="rIdLecture05_71"/>
    <p:sldId id="472" r:id="rIdLecture05_72"/>
    <p:sldId id="473" r:id="rIdLecture05_73"/>
    <p:sldId id="474" r:id="rIdLecture05_74"/>
    <p:sldId id="475" r:id="rIdLecture05_75"/>
    <p:sldId id="476" r:id="rIdLecture05_76"/>
    <p:sldId id="477" r:id="rIdLecture05_77"/>
  </p:sldIdLst>
  <p:sldSz cx="9144000" cy="6858000" type="screen4x3"/>
  <p:notesSz cx="6858000" cy="9144000"/>
  <p:defaultTextStyle>
    <a:defPPr>
      <a:buNone/>
    </a:defPPr>
    <a:lvl1pPr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0"/>
    <p:restoredTop sz="94658"/>
  </p:normalViewPr>
  <p:slideViewPr>
    <p:cSldViewPr snapToGrid="0">
      <p:cViewPr>
        <p:scale>
          <a:sx n="81" d="100"/>
          <a:sy n="81" d="100"/>
        </p:scale>
        <p:origin x="1648" y="9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84" Type="http://schemas.openxmlformats.org/officeDocument/2006/relationships/theme" Target="theme/theme1.xml"/><Relationship Id="rId85" Type="http://schemas.openxmlformats.org/officeDocument/2006/relationships/tableStyles" Target="tableStyles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82" Type="http://schemas.openxmlformats.org/officeDocument/2006/relationships/presProps" Target="presProps.xml"/><Relationship Id="rIdLecture05_1" Type="http://schemas.openxmlformats.org/officeDocument/2006/relationships/slide" Target="slides/slide201.xml"/><Relationship Id="rIdLecture05_21" Type="http://schemas.openxmlformats.org/officeDocument/2006/relationships/slide" Target="slides/slide221.xml"/><Relationship Id="rIdLecture05_22" Type="http://schemas.openxmlformats.org/officeDocument/2006/relationships/slide" Target="slides/slide222.xml"/><Relationship Id="rIdLecture05_23" Type="http://schemas.openxmlformats.org/officeDocument/2006/relationships/slide" Target="slides/slide223.xml"/><Relationship Id="rIdLecture05_24" Type="http://schemas.openxmlformats.org/officeDocument/2006/relationships/slide" Target="slides/slide224.xml"/><Relationship Id="rIdLecture05_25" Type="http://schemas.openxmlformats.org/officeDocument/2006/relationships/slide" Target="slides/slide225.xml"/><Relationship Id="rIdLecture05_26" Type="http://schemas.openxmlformats.org/officeDocument/2006/relationships/slide" Target="slides/slide226.xml"/><Relationship Id="rIdLecture05_27" Type="http://schemas.openxmlformats.org/officeDocument/2006/relationships/slide" Target="slides/slide227.xml"/><Relationship Id="rIdLecture05_28" Type="http://schemas.openxmlformats.org/officeDocument/2006/relationships/slide" Target="slides/slide228.xml"/><Relationship Id="rIdLecture05_29" Type="http://schemas.openxmlformats.org/officeDocument/2006/relationships/slide" Target="slides/slide229.xml"/><Relationship Id="rIdLecture05_30" Type="http://schemas.openxmlformats.org/officeDocument/2006/relationships/slide" Target="slides/slide230.xml"/><Relationship Id="rIdLecture05_31" Type="http://schemas.openxmlformats.org/officeDocument/2006/relationships/slide" Target="slides/slide231.xml"/><Relationship Id="rIdLecture05_32" Type="http://schemas.openxmlformats.org/officeDocument/2006/relationships/slide" Target="slides/slide232.xml"/><Relationship Id="rIdLecture05_33" Type="http://schemas.openxmlformats.org/officeDocument/2006/relationships/slide" Target="slides/slide233.xml"/><Relationship Id="rIdLecture05_34" Type="http://schemas.openxmlformats.org/officeDocument/2006/relationships/slide" Target="slides/slide234.xml"/><Relationship Id="rIdLecture05_35" Type="http://schemas.openxmlformats.org/officeDocument/2006/relationships/slide" Target="slides/slide235.xml"/><Relationship Id="rIdLecture05_36" Type="http://schemas.openxmlformats.org/officeDocument/2006/relationships/slide" Target="slides/slide236.xml"/><Relationship Id="rIdLecture05_37" Type="http://schemas.openxmlformats.org/officeDocument/2006/relationships/slide" Target="slides/slide237.xml"/><Relationship Id="rIdLecture05_38" Type="http://schemas.openxmlformats.org/officeDocument/2006/relationships/slide" Target="slides/slide238.xml"/><Relationship Id="rIdLecture05_39" Type="http://schemas.openxmlformats.org/officeDocument/2006/relationships/slide" Target="slides/slide239.xml"/><Relationship Id="rIdLecture05_40" Type="http://schemas.openxmlformats.org/officeDocument/2006/relationships/slide" Target="slides/slide240.xml"/><Relationship Id="rIdLecture05_41" Type="http://schemas.openxmlformats.org/officeDocument/2006/relationships/slide" Target="slides/slide241.xml"/><Relationship Id="rIdLecture05_42" Type="http://schemas.openxmlformats.org/officeDocument/2006/relationships/slide" Target="slides/slide242.xml"/><Relationship Id="rIdLecture05_43" Type="http://schemas.openxmlformats.org/officeDocument/2006/relationships/slide" Target="slides/slide243.xml"/><Relationship Id="rIdLecture05_44" Type="http://schemas.openxmlformats.org/officeDocument/2006/relationships/slide" Target="slides/slide244.xml"/><Relationship Id="rIdLecture05_45" Type="http://schemas.openxmlformats.org/officeDocument/2006/relationships/slide" Target="slides/slide245.xml"/><Relationship Id="rIdLecture05_46" Type="http://schemas.openxmlformats.org/officeDocument/2006/relationships/slide" Target="slides/slide246.xml"/><Relationship Id="rIdLecture05_47" Type="http://schemas.openxmlformats.org/officeDocument/2006/relationships/slide" Target="slides/slide247.xml"/><Relationship Id="rIdLecture05_48" Type="http://schemas.openxmlformats.org/officeDocument/2006/relationships/slide" Target="slides/slide248.xml"/><Relationship Id="rIdLecture05_49" Type="http://schemas.openxmlformats.org/officeDocument/2006/relationships/slide" Target="slides/slide249.xml"/><Relationship Id="rIdLecture05_50" Type="http://schemas.openxmlformats.org/officeDocument/2006/relationships/slide" Target="slides/slide250.xml"/><Relationship Id="rIdLecture05_51" Type="http://schemas.openxmlformats.org/officeDocument/2006/relationships/slide" Target="slides/slide251.xml"/><Relationship Id="rIdLecture05_52" Type="http://schemas.openxmlformats.org/officeDocument/2006/relationships/slide" Target="slides/slide252.xml"/><Relationship Id="rIdLecture05_53" Type="http://schemas.openxmlformats.org/officeDocument/2006/relationships/slide" Target="slides/slide253.xml"/><Relationship Id="rIdLecture05_54" Type="http://schemas.openxmlformats.org/officeDocument/2006/relationships/slide" Target="slides/slide254.xml"/><Relationship Id="rIdLecture05_55" Type="http://schemas.openxmlformats.org/officeDocument/2006/relationships/slide" Target="slides/slide255.xml"/><Relationship Id="rIdLecture05_56" Type="http://schemas.openxmlformats.org/officeDocument/2006/relationships/slide" Target="slides/slide256.xml"/><Relationship Id="rIdLecture05_57" Type="http://schemas.openxmlformats.org/officeDocument/2006/relationships/slide" Target="slides/slide257.xml"/><Relationship Id="rIdLecture05_58" Type="http://schemas.openxmlformats.org/officeDocument/2006/relationships/slide" Target="slides/slide258.xml"/><Relationship Id="rIdLecture05_59" Type="http://schemas.openxmlformats.org/officeDocument/2006/relationships/slide" Target="slides/slide259.xml"/><Relationship Id="rIdLecture05_60" Type="http://schemas.openxmlformats.org/officeDocument/2006/relationships/slide" Target="slides/slide260.xml"/><Relationship Id="rIdLecture05_61" Type="http://schemas.openxmlformats.org/officeDocument/2006/relationships/slide" Target="slides/slide261.xml"/><Relationship Id="rIdLecture05_62" Type="http://schemas.openxmlformats.org/officeDocument/2006/relationships/slide" Target="slides/slide262.xml"/><Relationship Id="rIdLecture05_63" Type="http://schemas.openxmlformats.org/officeDocument/2006/relationships/slide" Target="slides/slide263.xml"/><Relationship Id="rIdLecture05_64" Type="http://schemas.openxmlformats.org/officeDocument/2006/relationships/slide" Target="slides/slide264.xml"/><Relationship Id="rIdLecture05_65" Type="http://schemas.openxmlformats.org/officeDocument/2006/relationships/slide" Target="slides/slide265.xml"/><Relationship Id="rIdLecture05_66" Type="http://schemas.openxmlformats.org/officeDocument/2006/relationships/slide" Target="slides/slide266.xml"/><Relationship Id="rIdLecture05_67" Type="http://schemas.openxmlformats.org/officeDocument/2006/relationships/slide" Target="slides/slide267.xml"/><Relationship Id="rIdLecture05_68" Type="http://schemas.openxmlformats.org/officeDocument/2006/relationships/slide" Target="slides/slide268.xml"/><Relationship Id="rIdLecture05_69" Type="http://schemas.openxmlformats.org/officeDocument/2006/relationships/slide" Target="slides/slide269.xml"/><Relationship Id="rIdLecture05_70" Type="http://schemas.openxmlformats.org/officeDocument/2006/relationships/slide" Target="slides/slide270.xml"/><Relationship Id="rIdLecture05_71" Type="http://schemas.openxmlformats.org/officeDocument/2006/relationships/slide" Target="slides/slide271.xml"/><Relationship Id="rIdLecture05_72" Type="http://schemas.openxmlformats.org/officeDocument/2006/relationships/slide" Target="slides/slide272.xml"/><Relationship Id="rIdLecture05_73" Type="http://schemas.openxmlformats.org/officeDocument/2006/relationships/slide" Target="slides/slide273.xml"/><Relationship Id="rIdLecture05_74" Type="http://schemas.openxmlformats.org/officeDocument/2006/relationships/slide" Target="slides/slide274.xml"/><Relationship Id="rIdLecture05_75" Type="http://schemas.openxmlformats.org/officeDocument/2006/relationships/slide" Target="slides/slide275.xml"/><Relationship Id="rIdLecture05_76" Type="http://schemas.openxmlformats.org/officeDocument/2006/relationships/slide" Target="slides/slide276.xml"/><Relationship Id="rIdLecture05_77" Type="http://schemas.openxmlformats.org/officeDocument/2006/relationships/slide" Target="slides/slide277.xml"/></Relationships>
</file>

<file path=ppt/slideLayouts/_rels/slideLayout1.xml.rels><?xml version='1.0' encoding='UTF-8' standalone='yes'?>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510BE-174A-4444-A1D2-6B4676EAB2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684941"/>
            <a:ext cx="7772400" cy="1825021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B985B-0CCA-455C-BF14-2CCC419CCC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DED788-F81B-427A-B704-315256F93B0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ABBFB90-40F0-924A-AC90-AF06BE2CE8BC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65264-D824-4A11-AB0F-4B117F1A8C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61D79F-4263-4B93-B636-3EA0CB9F2AB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D28D73F-BEC3-4DFE-AC02-8DDE8BB534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548367"/>
            <a:ext cx="3847548" cy="95333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正文（半透明白底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正文减扰白底（母版版式）"/>
          <p:cNvSpPr>
            <a:spLocks noGrp="1"/>
          </p:cNvSpPr>
          <p:nvPr/>
        </p:nvSpPr>
        <p:spPr>
          <a:xfrm>
            <a:off x="0" y="1695450"/>
            <a:ext cx="9144000" cy="5162550"/>
          </a:xfrm>
          <a:prstGeom prst="rect">
            <a:avLst/>
          </a:prstGeom>
          <a:gradFill>
            <a:gsLst>
              <a:gs pos="15000">
                <a:srgbClr val="F2F9FD"/>
              </a:gs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chemeClr val="bg1">
                  <a:alpha val="84786"/>
                </a:schemeClr>
              </a:gs>
            </a:gsLst>
            <a:lin ang="5400000" scaled="1"/>
          </a:gradFill>
          <a:ln w="0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71EBAF-4A63-4E7A-AE06-96E397607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C9586-1E2F-4BCA-AD28-02E9CF10B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BCCE6-9DC6-448B-92AA-D611E039B29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DA53830-170D-A84E-A17B-BDF67C5F6563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42768-F1A1-40E3-A79F-5229A391DB2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AB15FB-6154-412C-958C-FDC55004945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F7D1E-53A9-45A0-8A83-F2D867841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B948F-CC85-437A-8199-50EE41A2E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C130C-8604-4D3F-8349-388B34188FF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138798FA-818A-5041-9AF9-D7A661FB7861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A092D1-2FB8-4124-8472-A76C10DBDD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6727E-2839-4F44-B26C-3F1806E59E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1A516-6730-4419-B041-EC65EA833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852EC8-17C4-410B-9B14-5FC579CAA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D7227D-F697-4914-9F59-06E9ACAFF0F9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75C4D-74E6-4AD6-B832-9AFBE466F33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9500264-D2BC-1F4C-97D3-C434A8A51AD5}" type="datetime1">
              <a:t>10/21/26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37E649-3ECE-410D-B652-E2E5EFCB7B4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6BDE7-EE05-46C7-9941-424B0E1F4DF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E0D01-4CE9-4376-92FD-27BEEB93EB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161A04-57FE-408F-973E-E6F5617AE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0F210E-878D-4337-A352-7CB530ECE9C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3DD54C-0AB3-4029-9C4D-E2C776B8810C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14DF19-4C74-4EAC-80F5-C1171181AA4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DC8697-23F9-4690-A87C-86CA83F7652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B65A6B-2C1F-314A-ABFA-F6E149FDACC1}" type="datetime1">
              <a:t>10/21/26</a:t>
            </a:fld>
            <a:endParaRPr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A992C7-53A7-4983-8384-0BFBED1977F9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EEDB30-441E-46C5-85F1-B4A4CC58ED8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957CF-42FF-45AF-B031-644A0E1ED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C8DA2D-E805-4EC3-8E48-BEBD215A379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1B69489-80A7-E142-84FC-5F37A74E03FE}" type="datetime1">
              <a:t>10/21/26</a:t>
            </a:fld>
            <a:endParaRPr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63FD67-9CBE-4853-9503-9713CC3C80A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37B1FF-09BB-4D6C-A03A-3A91FE8F282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D8527E-CF81-462C-86A5-4E6F363EE36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E2D48C6-D631-5043-9650-9710DA63924F}" type="datetime1">
              <a:t>10/21/26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EC78A0-BB33-4408-B015-FBF9E7D58E4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E85B9E-76C6-4E42-870F-66220576A71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E0AED-0A3E-47A3-8166-BDAE4E29D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75C949-F472-47A2-88DF-7EE5CFC416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E4FFA4-4461-47DC-83B8-E9DCF74739E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D3AC7-C398-4FED-BC4F-0A8D21E1B73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16B9322-A133-3A4F-A144-D2BA2167143F}" type="datetime1">
              <a:t>10/21/26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D0CE35-CB1B-4D42-9146-13DABFC785D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28F4F-B79D-4DBE-A87E-DCA07CB787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C1DD9-75D2-40E1-91D1-3EDC100CD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7F492D-87D9-4669-885C-07D18DBC57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59781D-2E86-4255-8387-99B169C31E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4F7A66-58F3-43F5-AE00-7E82C1584B2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15EDC21-2EB8-B340-92B6-C360835AC0CF}" type="datetime1">
              <a:t>10/21/26</a:t>
            </a:fld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943AFC-C712-4837-AD54-AFC1DEFFB5C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F9DD3-1B74-44F4-8B8C-2C5A2E20C1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45239B-E435-4715-8202-C764FD183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B58AE-86E0-47D2-9F2A-65DC95761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E5988A-562F-4E6A-BE40-C4E6090624D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74311C6-E5C3-7846-9807-1FFF2C76B421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2DD06-2D10-4108-95C8-A6312AFB5B5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1A910-9D15-437E-8F0B-AA7CEFCF2C8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E43EF0-0F81-407C-A21D-614F8238D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01535-0DF9-49FD-949B-456C594752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EB584C-0209-4958-B8C6-B8E9FE2916E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37BE1744-1A22-8E44-A05A-52D3A976BAC8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10C8B-D348-41EF-9217-54AF219A60A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75E1EC-4B30-46DF-A550-CA2D0A017D5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D9B273A-A102-1B42-956A-6E5E32854C5D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431E980-7B3F-4648-BD7A-E5A7FEB4B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D7A54C-2780-4DC3-9BD1-D2F7A23CBA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A2F01-EA00-42B2-ADA1-35D4B436A138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849F90-9EE0-244F-825B-BDF874172E77}" type="datetime1">
              <a:t>10/21/26</a:t>
            </a:fld>
            <a:endParaRPr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1484BC-FA77-46EC-94D6-B13C6ADB7EC7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31ED11-F4BA-4929-99F9-7FD08BE64C94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9B273A-A102-1B42-956A-6E5E32854C5D}" type="slidenum">
              <a:t>‹#›</a:t>
            </a:fld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E08E29-1248-4CB3-99E2-D7E5CCAB89D1}"/>
              </a:ext>
            </a:extLst>
          </p:cNvPr>
          <p:cNvPicPr>
            <a:picLocks noChangeAspect="1"/>
          </p:cNvPicPr>
          <p:nvPr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740" t="39500" r="24740" b="24740"/>
          <a:stretch/>
        </p:blipFill>
        <p:spPr>
          <a:xfrm>
            <a:off x="7186274" y="359380"/>
            <a:ext cx="1329076" cy="133130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201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1.xml"/></Relationships>
</file>

<file path=ppt/slides/_rels/slide221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22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23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Relationship Id="rIdOfflineInverse" Type="http://schemas.openxmlformats.org/officeDocument/2006/relationships/hyperlink" Target="https://guoquan.net/teaching/linear-algebra/resources/inverse-transform/" TargetMode="External"/></Relationships>
</file>

<file path=ppt/slides/_rels/slide224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25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26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27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28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29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30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31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32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33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34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35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36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37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38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39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40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41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42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43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44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45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46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47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48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49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50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51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52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53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54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55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56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57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58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59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60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61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62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63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64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65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66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67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68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69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70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71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72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73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74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75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76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_rels/slide277.xml.rels><?xml version='1.0' encoding='UTF-8' standalone='yes'?>
<Relationships xmlns="http://schemas.openxmlformats.org/package/2006/relationships"><Relationship Id="rIdLayoutL5" Type="http://schemas.openxmlformats.org/officeDocument/2006/relationships/slideLayout" Target="../slideLayouts/slideLayout2.xml"/></Relationships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1E1B5BFC-0703-4AC9-BCD8-E89AE37A83C0}"/>
              </a:ext>
            </a:extLst>
          </p:cNvPr>
          <p:cNvSpPr>
            <a:spLocks noGrp="1"/>
          </p:cNvSpPr>
          <p:nvPr/>
        </p:nvSpPr>
        <p:spPr>
          <a:xfrm>
            <a:off x="857250" y="1714500"/>
            <a:ext cx="74295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58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线性代数</a:t>
            </a:r>
          </a:p>
        </p:txBody>
      </p:sp>
      <p:sp>
        <p:nvSpPr>
          <p:cNvPr id="2" name="cover-english">
            <a:extLst>
              <a:ext uri="{FF2B5EF4-FFF2-40B4-BE49-F238E27FC236}">
                <a16:creationId xmlns:a16="http://schemas.microsoft.com/office/drawing/2014/main" id="{0D64F192-F423-4F9B-AA66-16239765F2CD}"/>
              </a:ext>
            </a:extLst>
          </p:cNvPr>
          <p:cNvSpPr>
            <a:spLocks noGrp="1"/>
          </p:cNvSpPr>
          <p:nvPr/>
        </p:nvSpPr>
        <p:spPr>
          <a:xfrm>
            <a:off x="857250" y="2619375"/>
            <a:ext cx="742950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defPPr>
            <a:lvl1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1pPr>
            <a:lvl2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2pPr>
            <a:lvl3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3pPr>
            <a:lvl4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4pPr>
            <a:lvl5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5pPr>
            <a:lvl6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6pPr>
            <a:lvl7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7pPr>
            <a:lvl8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8pPr>
            <a:lvl9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lvl9pPr>
          </a:lstStyle>
          <a:p>
            <a:pPr algn="ctr">
              <a:defRPr sz="4350" b="0">
                <a:solidFill>
                  <a:srgbClr val="151515"/>
                </a:solidFill>
                <a:latin typeface="Cambria"/>
                <a:ea typeface="Cambria"/>
                <a:cs typeface="Cambria"/>
              </a:defRPr>
            </a:pPr>
            <a:r>
              <a:rPr sz="4350" b="0">
                <a:solidFill>
                  <a:srgbClr val="151515"/>
                </a:solidFill>
                <a:latin typeface="Cambria"/>
                <a:ea typeface="Cambria"/>
                <a:cs typeface="Cambria"/>
              </a:rPr>
              <a:t>Linear Algebra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6C9BA460-F825-401E-B06C-B8C44738A443}"/>
              </a:ext>
            </a:extLst>
          </p:cNvPr>
          <p:cNvSpPr>
            <a:spLocks noGrp="1"/>
          </p:cNvSpPr>
          <p:nvPr/>
        </p:nvSpPr>
        <p:spPr>
          <a:xfrm>
            <a:off x="857250" y="3714750"/>
            <a:ext cx="74295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0">
                <a:solidFill>
                  <a:srgbClr val="196584"/>
                </a:solidFill>
                <a:latin typeface="微软雅黑"/>
                <a:ea typeface="微软雅黑"/>
                <a:cs typeface="微软雅黑"/>
              </a:rPr>
              <a:t>第五讲 · 逆矩阵</a:t>
            </a:r>
          </a:p>
        </p:txBody>
      </p:sp>
      <p:sp>
        <p:nvSpPr>
          <p:cNvPr id="4" name="cover-class">
            <a:extLst>
              <a:ext uri="{FF2B5EF4-FFF2-40B4-BE49-F238E27FC236}">
                <a16:creationId xmlns:a16="http://schemas.microsoft.com/office/drawing/2014/main" id="{7F034925-B041-4B65-97AB-6019A3DE6721}"/>
              </a:ext>
            </a:extLst>
          </p:cNvPr>
          <p:cNvSpPr>
            <a:spLocks noGrp="1"/>
          </p:cNvSpPr>
          <p:nvPr/>
        </p:nvSpPr>
        <p:spPr>
          <a:xfrm>
            <a:off x="857250" y="4552950"/>
            <a:ext cx="7429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人工智能学院 · 26计科03班、04班</a:t>
            </a:r>
          </a:p>
        </p:txBody>
      </p:sp>
      <p:sp>
        <p:nvSpPr>
          <p:cNvPr id="5" name="cover-lecturer">
            <a:extLst>
              <a:ext uri="{FF2B5EF4-FFF2-40B4-BE49-F238E27FC236}">
                <a16:creationId xmlns:a16="http://schemas.microsoft.com/office/drawing/2014/main" id="{CFE0E8B3-0066-4A58-A1A3-11D171CB92B1}"/>
              </a:ext>
            </a:extLst>
          </p:cNvPr>
          <p:cNvSpPr>
            <a:spLocks noGrp="1"/>
          </p:cNvSpPr>
          <p:nvPr/>
        </p:nvSpPr>
        <p:spPr>
          <a:xfrm>
            <a:off x="857250" y="5143500"/>
            <a:ext cx="742950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ctr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主讲：郭泉</a:t>
            </a:r>
          </a:p>
        </p:txBody>
      </p:sp>
    </p:spTree>
    <p:extLst>
      <p:ext uri="{BB962C8B-B14F-4D97-AF65-F5344CB8AC3E}">
        <p14:creationId xmlns:p14="http://schemas.microsoft.com/office/powerpoint/2010/main" val="953044617"/>
      </p:ext>
    </p:extLst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FE2487E9-3B67-4C7E-929D-EDB76AA3CA8F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提纲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31E04F23-734A-4966-859C-F9024B63E13E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教材：第2章 §3、§5；第3章 §1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4DFDB43C-D401-465D-A7AF-A9807273B834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第二板块：逆矩阵与线性方程组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9851DDCB-2F8F-4251-876B-C9F12139DC84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  逆矩阵的定义与运算规律</a:t>
            </a:r>
          </a:p>
        </p:txBody>
      </p:sp>
      <p:sp>
        <p:nvSpPr>
          <p:cNvPr id="6" name="content-3">
            <a:extLst>
              <a:ext uri="{FF2B5EF4-FFF2-40B4-BE49-F238E27FC236}">
                <a16:creationId xmlns:a16="http://schemas.microsoft.com/office/drawing/2014/main" id="{4CE2B3B3-1C2B-43D0-BCBD-9207FB655CFB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  初等矩阵与可逆性的等价条件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9FDEDA4A-FEE0-42FA-9828-AE018FEC7F36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  逆矩阵的计算</a:t>
            </a:r>
          </a:p>
        </p:txBody>
      </p:sp>
      <p:sp>
        <p:nvSpPr>
          <p:cNvPr id="8" name="content-5">
            <a:extLst>
              <a:ext uri="{FF2B5EF4-FFF2-40B4-BE49-F238E27FC236}">
                <a16:creationId xmlns:a16="http://schemas.microsoft.com/office/drawing/2014/main" id="{D33AE9D4-32C4-417C-82A1-B2BCE14A7FCA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4  逆矩阵与矩阵方程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64C16BB4-26BD-4763-BF39-F88DB5AFF827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同一矩阵与不同右端项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C0506ED6-6CF6-4258-9FE6-CC776000958A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一、逆矩阵定义的引入，p.39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7A70FA52-FEEC-403C-866D-B4BC79541D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47875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2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7A70FA52-FEEC-403C-866D-B4BC79541D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47875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C=[2  -1; -1  1]， AC=E</a:t>
                </a:r>
              </a:p>
            </p:txBody>
          </p:sp>
        </mc:Fallback>
      </mc:AlternateContent>
      <p:sp>
        <p:nvSpPr>
          <p:cNvPr id="5" name="content-2">
            <a:extLst>
              <a:ext uri="{FF2B5EF4-FFF2-40B4-BE49-F238E27FC236}">
                <a16:creationId xmlns:a16="http://schemas.microsoft.com/office/drawing/2014/main" id="{03147140-82D0-4B03-8561-276E22E64A7E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已知AC=E，换一个右端项，试用矩阵C求解。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343D6780-602F-4DE3-BFFB-22E003F1900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33875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343D6780-602F-4DE3-BFFB-22E003F1900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33875"/>
                <a:ext cx="7620000" cy="114300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b=[3; 4]， Cb=[2;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3335981E-5037-4F1A-A104-8EF4768D78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667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3335981E-5037-4F1A-A104-8EF4768D78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667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A(Cb)=(AC)b=Eb=b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839EC1FF-62C9-4344-9F1D-6BA2ED58EFD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1.1 逆变换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BEF7EBE9-B6F0-47E5-B700-6A332ECE331E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逆变换引入，p.39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92187815-ACC3-4898-AD77-F5337FD0BDB7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矩阵A同时作用于平面中的每一个点。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D0C3090C-FCC7-4496-884C-62C9DBC2278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66700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D0C3090C-FCC7-4496-884C-62C9DBC2278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667000"/>
                <a:ext cx="7620000" cy="1238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A[2; 1]=[3; 4]</a:t>
                </a:r>
              </a:p>
            </p:txBody>
          </p:sp>
        </mc:Fallback>
      </mc:AlternateContent>
      <p:sp>
        <p:nvSpPr>
          <p:cNvPr id="6" name="content-3">
            <a:extLst>
              <a:ext uri="{FF2B5EF4-FFF2-40B4-BE49-F238E27FC236}">
                <a16:creationId xmlns:a16="http://schemas.microsoft.com/office/drawing/2014/main" id="{93E18289-BC26-475E-BA33-38B7415FB30F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用刚才得到的C，恢复原坐标。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38B53731-1D25-4502-B686-0606F37B098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5775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3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38B53731-1D25-4502-B686-0606F37B098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57750"/>
                <a:ext cx="7620000" cy="1095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C=[2  -1; -1  1]， C[3; 4]=[2; 1]</a:t>
                </a:r>
              </a:p>
            </p:txBody>
          </p:sp>
        </mc:Fallback>
      </mc:AlternateContent>
      <p:sp>
        <p:nvSpPr>
          <p:cNvPr id="8" name="content-5">
            <a:extLst>
              <a:ext uri="{FF2B5EF4-FFF2-40B4-BE49-F238E27FC236}">
                <a16:creationId xmlns:a16="http://schemas.microsoft.com/office/drawing/2014/main" id="{2F3C23EC-9EB5-4D2B-BB95-4C1F462F4A8A}"/>
              </a:ext>
            </a:extLst>
          </p:cNvPr>
          <p:cNvSpPr>
            <a:spLocks noGrp="1"/>
          </p:cNvSpPr>
          <p:nvPr/>
        </p:nvSpPr>
        <p:spPr>
          <a:xfrm>
            <a:off x="762000" y="60293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4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151515"/>
                </a:solidFill>
                <a:latin typeface="微软雅黑"/>
                <a:ea typeface="微软雅黑"/>
                <a:cs typeface="微软雅黑"/>
                <a:hlinkClick r:id="rIdOfflineInverse"/>
              </a:rPr>
              <a:t>打开离线互动：变换与恢复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E8F45334-3F8C-4C99-8490-A3B3051FCBC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1.2 逆矩阵的定义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D2672AB9-0B57-4F34-B964-415FA4EB5FE0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第2章§3 一、逆矩阵的定义、性质和求法·定义7·p.39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C674FCDF-8445-4217-A003-0414C84A7153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 A 为 n 阶方阵。若存在 n 阶矩阵 B，使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317AFE54-E6BA-4982-B945-59364AC220C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622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317AFE54-E6BA-4982-B945-59364AC220C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622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AB=BA=E</a:t>
                </a:r>
              </a:p>
            </p:txBody>
          </p:sp>
        </mc:Fallback>
      </mc:AlternateContent>
      <p:sp>
        <p:nvSpPr>
          <p:cNvPr id="7" name="content-3">
            <a:extLst>
              <a:ext uri="{FF2B5EF4-FFF2-40B4-BE49-F238E27FC236}">
                <a16:creationId xmlns:a16="http://schemas.microsoft.com/office/drawing/2014/main" id="{D6738BB0-7E46-4146-A7DC-BA649FA69277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则称 A 可逆，B 称为 A 的逆矩阵，记为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42E225E4-1378-454F-9744-DA249FE532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42E225E4-1378-454F-9744-DA249FE532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B=A^{-1}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ecture-title">
            <a:extLst>
              <a:ext uri="{FF2B5EF4-FFF2-40B4-BE49-F238E27FC236}">
                <a16:creationId xmlns:a16="http://schemas.microsoft.com/office/drawing/2014/main" id="{037E98F4-C1FA-480C-AA84-912D656A3C7F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逆矩阵的双边验证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685379E5-A315-4437-8E83-C77EAE016664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一、定义7，p.39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8931382F-FBF1-46FC-AFF3-CCE83129EEE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47875"/>
                <a:ext cx="7620000" cy="1285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8931382F-FBF1-46FC-AFF3-CCE83129EEE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47875"/>
                <a:ext cx="7620000" cy="1285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2]， C=[2  -1; -1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922E35C6-4044-4495-AE48-69F1EBF473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810000"/>
                <a:ext cx="7620000" cy="1285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922E35C6-4044-4495-AE48-69F1EBF4734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810000"/>
                <a:ext cx="7620000" cy="1285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AC=[1  0; 0  1]， CA=[1  0; 0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C29D19E6-A8B8-4FF1-A6B2-8BC98966889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381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C29D19E6-A8B8-4FF1-A6B2-8BC98966889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381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AC=CA=E， C=A^{-1}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8783353C-DABD-48D7-8939-BADCE044D2F8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不可逆矩阵：信息丢失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4E79E604-880C-42AA-98FC-A9B3AD3677DF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对应：第2章 §3 定义7，p.39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7F8F787D-75D1-44D5-9769-6869B6804E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95500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7F8F787D-75D1-44D5-9769-6869B6804E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95500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C=[1  0; 0  0]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1491A88B-31C8-439A-A9D2-037FBC6E9E8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667125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1491A88B-31C8-439A-A9D2-037FBC6E9E8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667125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C[2; 1]=[2; 0]， C[2; 3]=[2; 0]</a:t>
                </a:r>
              </a:p>
            </p:txBody>
          </p:sp>
        </mc:Fallback>
      </mc:AlternateContent>
      <p:sp>
        <p:nvSpPr>
          <p:cNvPr id="6" name="content-3">
            <a:extLst>
              <a:ext uri="{FF2B5EF4-FFF2-40B4-BE49-F238E27FC236}">
                <a16:creationId xmlns:a16="http://schemas.microsoft.com/office/drawing/2014/main" id="{E9AC94A6-6A0C-49E5-BA94-A6320232E22E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两个不同的输入，得到同一个输出。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7C665A19-E87E-44B1-917D-6E331FCD7B79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仅凭输出，无法把两者都恢复成各自原来的输入。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8D5BD32B-1570-4650-973A-E83825122FA1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1.3 逆矩阵的唯一性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31B11FAE-A7BB-4F80-9096-BE9E087D0BD9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第2章§3 一、逆矩阵的定义、性质和求法·唯一性·p.39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D94297B3-7A87-4AEE-ABA9-E405EFD96956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若 B、C 都是 A 的逆矩阵，则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A6300F7-29ED-4B80-A435-ABD0B28A2BE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A6300F7-29ED-4B80-A435-ABD0B28A2BE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B=BE=B(AC)=(BA)C=EC=C</a:t>
                </a:r>
              </a:p>
            </p:txBody>
          </p:sp>
        </mc:Fallback>
      </mc:AlternateContent>
      <p:sp>
        <p:nvSpPr>
          <p:cNvPr id="7" name="content-3">
            <a:extLst>
              <a:ext uri="{FF2B5EF4-FFF2-40B4-BE49-F238E27FC236}">
                <a16:creationId xmlns:a16="http://schemas.microsoft.com/office/drawing/2014/main" id="{2BB9C205-1E47-44E2-99DB-E3F4DAAA3EF7}"/>
              </a:ext>
            </a:extLst>
          </p:cNvPr>
          <p:cNvSpPr>
            <a:spLocks noGrp="1"/>
          </p:cNvSpPr>
          <p:nvPr/>
        </p:nvSpPr>
        <p:spPr>
          <a:xfrm>
            <a:off x="762000" y="44767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逆矩阵一旦存在，便唯一确定。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78281D69-91A2-42D0-BE71-84EB3CD4A5EF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1.4 逆矩阵的运算规律（1）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7ECB21F8-5F32-4F90-A1D2-5912742871DD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一、规律(i)，p.40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925E80EE-1C81-4B06-B3CC-528A0F503F8C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设A为n阶可逆矩阵。由逆矩阵的定义：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D00F72E5-F7B0-4737-9747-8E85FE567D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5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D00F72E5-F7B0-4737-9747-8E85FE567D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AA^{-1}=A^{-1}A=E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F885A244-30BB-47FD-AF71-A41D72624B4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95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6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6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62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6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6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6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6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F885A244-30BB-47FD-AF71-A41D72624B4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95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(A^{-1})^{-1}=A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3E325764-C7D8-4046-B1DB-0E2023DFC1D9}"/>
              </a:ext>
            </a:extLst>
          </p:cNvPr>
          <p:cNvSpPr>
            <a:spLocks noGrp="1"/>
          </p:cNvSpPr>
          <p:nvPr/>
        </p:nvSpPr>
        <p:spPr>
          <a:xfrm>
            <a:off x="762000" y="5238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先做一个可逆变换，再撤销它；反过来同样恢复原状。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AD90A513-A260-4AF8-ADB1-84617F3CD0E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逆矩阵的运算规律（2）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D99FA07D-3A84-464E-B7C1-4EF320868E5E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一、规律(ii)，p.40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8086ECAA-EAA9-484B-B9B0-31CCE5054F3F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设A为n阶可逆矩阵，λ为非零实数。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C7CA52AF-57C9-4874-BB24-DDBDE74FFF5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i"/>
                            </m:rPr>
                            <a:rPr lang="en-US" sz="25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λ</m:t>
                          </m:r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i"/>
                            </m:rPr>
                            <a:rPr lang="en-US" sz="25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λ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C7CA52AF-57C9-4874-BB24-DDBDE74FFF5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(λA)^{-1}=λ^{-1}A^{-1}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B5A6F7B0-F57A-4E6D-A545-F725EB68BB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i"/>
                        </m:rPr>
                        <a:rPr lang="en-US" sz="2175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λ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sSup>
                        <m:e>
                          <m:r>
                            <m:rPr>
                              <m:sty m:val="i"/>
                            </m:rPr>
                            <a:rPr lang="en-US" sz="217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λ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B5A6F7B0-F57A-4E6D-A545-F725EB68BB5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(λA)(λ^{-1}A^{-1})=AA^{-1}=E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3BF48B82-C95F-4FB3-B47D-096FAA7A75F8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另一侧乘积也等于E。非零条件不能省略。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9802C70C-5F83-4D4E-A46C-DD3DC72C7BD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逆矩阵的运算规律（3）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52984D00-D142-407E-94BE-BB174BE08BAC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第2章§3 一、逆矩阵的定义、性质和求法·规律(iii)·p.40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F3BEEE3C-D5D5-415E-B167-ABC826876F0A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若 A、B 均为 n 阶可逆矩阵，则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65FBEB5A-84D1-4735-AB2B-D8DFC54F96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65FBEB5A-84D1-4735-AB2B-D8DFC54F96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(AB)^{-1}=B^{-1}A^{-1}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8B19B88C-9DA3-4DBB-8F4A-F69DFFEB764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8100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8B19B88C-9DA3-4DBB-8F4A-F69DFFEB764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8100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(AB)(B^{-1}A^{-1})=A(BB^{-1})A^{-1}=E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0DBA8064-1060-4D98-B259-D0644555C8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0DBA8064-1060-4D98-B259-D0644555C8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(B^{-1}A^{-1})(AB)=B^{-1}(A^{-1}A)B=E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0F97B0AA-08F6-49CD-AF3F-3AF5904F8F0C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多矩阵乘积的逆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2BBC7FAD-2A46-474D-9A96-7611BA815C55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一、规律(iii)的推广，p.40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82EA323B-1D38-4D0F-AFDC-0244BE32643D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设A₁、A₂、…、Aₘ为同阶可逆矩阵。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C4C2C4BE-E89D-4FCA-B676-6DBB98CC1F2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00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32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32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⋯</m:t>
                          </m:r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325" i="1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m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325" i="1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m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32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32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C4C2C4BE-E89D-4FCA-B676-6DBB98CC1F2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00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(A₁A₂⋯Aₘ)^{-1}=Aₘ^{-1}⋯A₂^{-1}A₁^{-1}</a:t>
                </a:r>
              </a:p>
            </p:txBody>
          </p:sp>
        </mc:Fallback>
      </mc:AlternateContent>
      <p:sp>
        <p:nvSpPr>
          <p:cNvPr id="6" name="content-3">
            <a:extLst>
              <a:ext uri="{FF2B5EF4-FFF2-40B4-BE49-F238E27FC236}">
                <a16:creationId xmlns:a16="http://schemas.microsoft.com/office/drawing/2014/main" id="{F464CC74-0515-43A3-90BF-D6DE13C56E78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撤销一串操作，要从最后一步开始。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9E289468-623C-4BAE-A464-2D703CB32B0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958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C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C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9E289468-623C-4BAE-A464-2D703CB32B0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958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(ABC)^{-1}=C^{-1}B^{-1}A^{-1}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1DC410BF-C96D-4E01-8F53-B26254DB138D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逆矩阵的运算规律（4）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E55F5190-7DEB-46B1-8089-A2EB92404B09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一、规律(iv)，p.40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93D755F8-8BB0-4A1A-940F-9C8AB808446E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设A为n阶可逆矩阵，则A的转置也可逆。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40FC507E-3303-409A-ADED-160BBE7FE2A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55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50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T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55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550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40FC507E-3303-409A-ADED-160BBE7FE2A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(A^T)^{-1}=(A^{-1})^T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B08BF1D-B9B1-4BA9-ABC1-D414A5C17F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sSup>
                        <m:e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17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17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17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17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EB08BF1D-B9B1-4BA9-ABC1-D414A5C17F9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A^T(A^{-1})^T=(A^{-1}A)^T=E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44F229FB-B99C-4B6F-9B06-E4129C5907A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905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17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17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17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17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44F229FB-B99C-4B6F-9B06-E4129C5907A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905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(A^{-1})^TA^T=(AA^{-1})^T=E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5EA668B4-20F4-4E55-8453-679F5AF113B5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可逆矩阵的整数幂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0674E05D-9310-42F0-93BF-5799BC595FCA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一、可逆矩阵的整数幂，p.40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8C37AA73-0F85-4287-B2D8-80312035BA44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设A可逆，k为正整数。定义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45A7B322-508B-46FE-B27B-B9651609E9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00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bi"/>
                            </m:rPr>
                            <a:rPr lang="en-US" sz="24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</m:t>
                          </m:r>
                          <m:r>
                            <m:rPr>
                              <m:sty m:val="i"/>
                            </m:rPr>
                            <a:rPr lang="en-US" sz="247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4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47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75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-1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4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47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0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45A7B322-508B-46FE-B27B-B9651609E97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00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A^{-k}=(A^{-1})^k， A⁰=E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CFD8FB46-A83A-4DCD-88BC-6FC731E256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bi"/>
                            </m:rPr>
                            <a:rPr lang="en-US" sz="23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3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l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3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+</m:t>
                          </m:r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l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sSup>
                            <m:e>
                              <m:r>
                                <m:rPr>
                                  <m:sty m:val="bi"/>
                                </m:rPr>
                                <a:rPr lang="en-US" sz="2325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A</m:t>
                              </m:r>
                            </m:e>
                            <m:sup>
                              <m:r>
                                <m:rPr>
                                  <m:sty m:val="i"/>
                                </m:rPr>
                                <a:rPr lang="en-US" sz="2325" i="1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k</m:t>
                              </m:r>
                            </m:sup>
                          </m:s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l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3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  <m:r>
                            <m:rPr>
                              <m:sty m:val="i"/>
                            </m:rPr>
                            <a:rPr lang="en-US" sz="232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l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CFD8FB46-A83A-4DCD-88BC-6FC731E2569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A^kAˡ=A^{k+l}， (A^k)ˡ=A^{kl}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D58358DB-12B5-4F2C-9FBB-2B61873901C9}"/>
              </a:ext>
            </a:extLst>
          </p:cNvPr>
          <p:cNvSpPr>
            <a:spLocks noGrp="1"/>
          </p:cNvSpPr>
          <p:nvPr/>
        </p:nvSpPr>
        <p:spPr>
          <a:xfrm>
            <a:off x="762000" y="5095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此时k、l可以为任意整数；各式只涉及同一个A。</a:t>
            </a:r>
          </a:p>
        </p:txBody>
      </p:sp>
      <p:sp>
        <p:nvSpPr>
          <p:cNvPr id="8" name="content-5">
            <a:extLst>
              <a:ext uri="{FF2B5EF4-FFF2-40B4-BE49-F238E27FC236}">
                <a16:creationId xmlns:a16="http://schemas.microsoft.com/office/drawing/2014/main" id="{39E45064-E7E6-4A38-9A1A-27232BA48356}"/>
              </a:ext>
            </a:extLst>
          </p:cNvPr>
          <p:cNvSpPr>
            <a:spLocks noGrp="1"/>
          </p:cNvSpPr>
          <p:nvPr/>
        </p:nvSpPr>
        <p:spPr>
          <a:xfrm>
            <a:off x="762000" y="5667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不可把这一规律推广成任意矩阵乘法都可交换。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ecture-title">
            <a:extLst>
              <a:ext uri="{FF2B5EF4-FFF2-40B4-BE49-F238E27FC236}">
                <a16:creationId xmlns:a16="http://schemas.microsoft.com/office/drawing/2014/main" id="{B525A262-D1B5-4B6F-9363-5F7159138963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随堂选择题 1：乘积的逆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06CDB23F-A3C8-4D25-B37E-A89A54499BE8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一、规律(iii)，p.40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78FB56FC-2A78-4D39-8B5F-D4EF6129D41B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A、B都是n阶可逆矩阵。下列一定正确的是：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D1E9622A-9AAF-42CB-A970-8669A3DEF98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00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D1E9622A-9AAF-42CB-A970-8669A3DEF98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00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A.  (AB)^{-1}=A^{-1}B^{-1}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51155D84-71E4-4A1B-8AB2-0A0DF7347B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762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+</m:t>
                          </m:r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51155D84-71E4-4A1B-8AB2-0A0DF7347B6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762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B.  (A+B)^{-1}=A^{-1}+B^{-1}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0FC48959-6789-42EC-80CF-14694B07D9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24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0FC48959-6789-42EC-80CF-14694B07D9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24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C.  (AB)^{-1}=B^{-1}A^{-1}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621A1072-27C9-4E5C-AF3C-02C3E14CAA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286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D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一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定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可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逆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621A1072-27C9-4E5C-AF3C-02C3E14CAA2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286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D.  A+B 一定可逆</a:t>
                </a:r>
              </a:p>
            </p:txBody>
          </p:sp>
        </mc:Fallback>
      </mc:AlternateContent>
      <p:sp>
        <p:nvSpPr>
          <p:cNvPr id="9" name="content-6">
            <a:extLst>
              <a:ext uri="{FF2B5EF4-FFF2-40B4-BE49-F238E27FC236}">
                <a16:creationId xmlns:a16="http://schemas.microsoft.com/office/drawing/2014/main" id="{7F119D49-63B5-4FE6-BD4D-EC6BDD075EE7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请打开学习通作答。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F2EECE28-F59D-4171-9E81-CAE04982640B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  初等矩阵与可逆性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4A5CD4D3-A1FD-4A65-A190-D661603EF027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性质2、定理1及推论，pp.61–63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14BC2AEF-6F11-4A7B-BDBC-E0F3E67398F8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提纲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54701E99-08F3-4EA3-83C4-EAFBFBC9F7A0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2.1  初等矩阵的逆</a:t>
            </a:r>
          </a:p>
        </p:txBody>
      </p:sp>
      <p:sp>
        <p:nvSpPr>
          <p:cNvPr id="6" name="content-3">
            <a:extLst>
              <a:ext uri="{FF2B5EF4-FFF2-40B4-BE49-F238E27FC236}">
                <a16:creationId xmlns:a16="http://schemas.microsoft.com/office/drawing/2014/main" id="{CE00718C-A419-494C-AC13-95A942F969C2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2.2  可逆矩阵的初等分解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5C0AC710-4AA7-4A5F-B917-C4D520A478A7}"/>
              </a:ext>
            </a:extLst>
          </p:cNvPr>
          <p:cNvSpPr>
            <a:spLocks noGrp="1"/>
          </p:cNvSpPr>
          <p:nvPr/>
        </p:nvSpPr>
        <p:spPr>
          <a:xfrm>
            <a:off x="762000" y="4572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2.3  行等价、列等价与一般等价</a:t>
            </a:r>
          </a:p>
        </p:txBody>
      </p:sp>
      <p:sp>
        <p:nvSpPr>
          <p:cNvPr id="8" name="content-5">
            <a:extLst>
              <a:ext uri="{FF2B5EF4-FFF2-40B4-BE49-F238E27FC236}">
                <a16:creationId xmlns:a16="http://schemas.microsoft.com/office/drawing/2014/main" id="{7A8265AA-D7A0-447A-8AF7-AC9208777071}"/>
              </a:ext>
            </a:extLst>
          </p:cNvPr>
          <p:cNvSpPr>
            <a:spLocks noGrp="1"/>
          </p:cNvSpPr>
          <p:nvPr/>
        </p:nvSpPr>
        <p:spPr>
          <a:xfrm>
            <a:off x="762000" y="5429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2.4  可逆与行等价于单位矩阵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A0B100B2-C808-4AF3-AB7B-19E0F1F7FFFD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2.1 初等矩阵的逆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684E812F-AF56-4C66-BE41-1FCB3B5083D6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矩阵的初等变换·初等矩阵的逆·p.62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6E426C68-CE63-46DE-9C98-CF2995396F15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沿用书中 E(i,j)、E(i(k))、E(ij(k)) 记号。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96B5FFC3-D8BB-41D5-B0FC-490E7C19604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14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i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,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j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i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,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j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96B5FFC3-D8BB-41D5-B0FC-490E7C19604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14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E(i,j)^{-1}=E(i,j)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16E31FB0-DBED-41E8-B041-D60F43B906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6671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i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i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1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/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16E31FB0-DBED-41E8-B041-D60F43B9065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6671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E(i(k))^{-1}=E(i(1/k))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498B245B-A0BD-41E9-BBC7-010AD9862D0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19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sSup>
                        <m:e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i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j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(</m:t>
                          </m:r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k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)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i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j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i"/>
                        </m:rPr>
                        <a:rPr lang="en-US" sz="2400" i="1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k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498B245B-A0BD-41E9-BBC7-010AD9862D0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19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E(ij(k))^{-1}=E(ij(−k))</a:t>
                </a:r>
              </a:p>
            </p:txBody>
          </p:sp>
        </mc:Fallback>
      </mc:AlternateContent>
      <p:sp>
        <p:nvSpPr>
          <p:cNvPr id="9" name="content-5">
            <a:extLst>
              <a:ext uri="{FF2B5EF4-FFF2-40B4-BE49-F238E27FC236}">
                <a16:creationId xmlns:a16="http://schemas.microsoft.com/office/drawing/2014/main" id="{90E2ACBA-EC0A-40BA-A838-256CDA680533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第二式要求 k ≠ 0；每个逆仍是同类型初等矩阵。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C3966600-454D-4C8B-91A7-F3A8C8AC5C95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初等矩阵的逆：验证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2691E7FC-D210-47DF-8A01-DA041FAE3DA5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对应知识点：第3章§1·初等矩阵的逆·p.62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B57430E1-08CA-4307-A8AE-93F4710377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428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B57430E1-08CA-4307-A8AE-93F47103771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428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[1  2; 0  1][1  -2; 0  1]=[1  0; 0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1AC57E2-4544-4021-8DD6-DD6B768206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81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1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1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1AC57E2-4544-4021-8DD6-DD6B768206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81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E(12(2))E(12(−2))=E</a:t>
                </a:r>
              </a:p>
            </p:txBody>
          </p:sp>
        </mc:Fallback>
      </mc:AlternateContent>
      <p:sp>
        <p:nvSpPr>
          <p:cNvPr id="7" name="content-3">
            <a:extLst>
              <a:ext uri="{FF2B5EF4-FFF2-40B4-BE49-F238E27FC236}">
                <a16:creationId xmlns:a16="http://schemas.microsoft.com/office/drawing/2014/main" id="{8626F18B-809D-44FB-8254-2FDFC5C179DD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先倍加，再用相反的倍数抵消，恢复单位矩阵。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ADC32B40-2422-4038-986F-EE72C0287327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2.2 可逆矩阵的初等分解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8D6AD321-8A42-4337-8552-7FAC6DDFE6F8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矩阵的初等变换·性质2·p.62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8908B4ED-C3AB-422A-89C8-D20A4B1E5DBC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性质2  方阵 A 可逆的充分必要条件是：</a:t>
            </a:r>
          </a:p>
        </p:txBody>
      </p:sp>
      <p:sp>
        <p:nvSpPr>
          <p:cNvPr id="6" name="content-2">
            <a:extLst>
              <a:ext uri="{FF2B5EF4-FFF2-40B4-BE49-F238E27FC236}">
                <a16:creationId xmlns:a16="http://schemas.microsoft.com/office/drawing/2014/main" id="{01CAB676-CC9C-4162-ACC0-89B5E8C84C80}"/>
              </a:ext>
            </a:extLst>
          </p:cNvPr>
          <p:cNvSpPr>
            <a:spLocks noGrp="1"/>
          </p:cNvSpPr>
          <p:nvPr/>
        </p:nvSpPr>
        <p:spPr>
          <a:xfrm>
            <a:off x="762000" y="285750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A 可以写成有限个初等矩阵的乘积。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93408B36-DA40-4072-8508-2F3FBC5452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l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93408B36-DA40-4072-8508-2F3FBC5452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A=P₁P₂⋯Pₗ</a:t>
                </a:r>
              </a:p>
            </p:txBody>
          </p:sp>
        </mc:Fallback>
      </mc:AlternateContent>
      <p:sp>
        <p:nvSpPr>
          <p:cNvPr id="8" name="content-4">
            <a:extLst>
              <a:ext uri="{FF2B5EF4-FFF2-40B4-BE49-F238E27FC236}">
                <a16:creationId xmlns:a16="http://schemas.microsoft.com/office/drawing/2014/main" id="{0641AA6F-D191-49D6-AA9F-00CAF17A42A2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以下分两个方向证明。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5B347E58-1AA5-47B9-9A6F-4EC376BC54DC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性质2：充分性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873A662A-CFB9-4C95-8781-039BC7B9EA7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矩阵的初等变换·性质2充分性·p.62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330DECC3-23EE-4368-B141-817F5BE14B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190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l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330DECC3-23EE-4368-B141-817F5BE14B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190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A=P₁P₂⋯Pₗ</a:t>
                </a:r>
              </a:p>
            </p:txBody>
          </p:sp>
        </mc:Fallback>
      </mc:AlternateContent>
      <p:sp>
        <p:nvSpPr>
          <p:cNvPr id="6" name="content-2">
            <a:extLst>
              <a:ext uri="{FF2B5EF4-FFF2-40B4-BE49-F238E27FC236}">
                <a16:creationId xmlns:a16="http://schemas.microsoft.com/office/drawing/2014/main" id="{69AAAAD9-36A4-44C6-AA7A-6A290AE530D0}"/>
              </a:ext>
            </a:extLst>
          </p:cNvPr>
          <p:cNvSpPr>
            <a:spLocks noGrp="1"/>
          </p:cNvSpPr>
          <p:nvPr/>
        </p:nvSpPr>
        <p:spPr>
          <a:xfrm>
            <a:off x="762000" y="33337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每个 Pᵢ 都可逆，有限个可逆矩阵的乘积可逆。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AFB2DDA6-B87A-4015-94A1-5BB1F74463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81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40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400" i="1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l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40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40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P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AFB2DDA6-B87A-4015-94A1-5BB1F74463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381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A^{-1}=Pₗ^{-1}⋯P₂^{-1}P₁^{-1}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067BA1D0-FC8A-41C8-9470-08584A8E6D14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性质2：必要性（1）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7B70DB29-C67A-464C-BC5E-3F7D586146CF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矩阵的初等变换·性质2必要性·p.63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3E3D0C24-B5BC-49E5-89C9-1C1D0E2339F4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 A 可逆。只用初等行变换把 A 化为行最简形 B。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5DB9E4BA-2533-4480-A580-6A599077C7E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480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5DB9E4BA-2533-4480-A580-6A599077C7E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480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B=Qₜ⋯Q₂Q₁A</a:t>
                </a:r>
              </a:p>
            </p:txBody>
          </p:sp>
        </mc:Fallback>
      </mc:AlternateContent>
      <p:sp>
        <p:nvSpPr>
          <p:cNvPr id="7" name="content-3">
            <a:extLst>
              <a:ext uri="{FF2B5EF4-FFF2-40B4-BE49-F238E27FC236}">
                <a16:creationId xmlns:a16="http://schemas.microsoft.com/office/drawing/2014/main" id="{962A9902-620A-440A-844D-1A04CAD28662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Qᵢ 与 A 都可逆，因此 B 可逆。</a:t>
            </a:r>
          </a:p>
        </p:txBody>
      </p:sp>
      <p:sp>
        <p:nvSpPr>
          <p:cNvPr id="8" name="content-4">
            <a:extLst>
              <a:ext uri="{FF2B5EF4-FFF2-40B4-BE49-F238E27FC236}">
                <a16:creationId xmlns:a16="http://schemas.microsoft.com/office/drawing/2014/main" id="{4FC91104-EDA9-404F-AE4C-39006B400430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B若有零行，右乘任意矩阵仍有零行，不可能乘得E。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2C2ACF13-ACEC-4FE8-98F2-5CDDB9A1AD39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性质2：必要性（2）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7BE8E6A9-D665-4A71-BC15-8DF9705D0700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矩阵的初等变换·性质2必要性·p.63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0E4B53BB-4735-4F79-A949-2EC1D542EB7E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n 阶行最简方阵 B 无零行，便有 n 个首元 1。</a:t>
            </a:r>
          </a:p>
        </p:txBody>
      </p:sp>
      <p:sp>
        <p:nvSpPr>
          <p:cNvPr id="6" name="content-2">
            <a:extLst>
              <a:ext uri="{FF2B5EF4-FFF2-40B4-BE49-F238E27FC236}">
                <a16:creationId xmlns:a16="http://schemas.microsoft.com/office/drawing/2014/main" id="{D6DA8F0F-D46B-47D6-82F1-1F3A16996DB3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首元占据全部 n 列，因此 B = E。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BC315506-C145-45C8-8A1A-21710152F1A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8100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Q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BC315506-C145-45C8-8A1A-21710152F1A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8100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Qₜ⋯Q₂Q₁A=E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024B3BC4-056E-4C40-8DCD-48379D9653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40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1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40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Q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2400" i="0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2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p>
                        <m:e>
                          <m:sSub>
                            <m:e>
                              <m:r>
                                <m:rPr>
                                  <m:sty m:val="bi"/>
                                </m:rPr>
                                <a:rPr lang="en-US" sz="2400" i="1" b="1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Q</m:t>
                              </m:r>
                            </m:e>
                            <m:sub>
                              <m:r>
                                <m:rPr>
                                  <m:sty m:val="i"/>
                                </m:rPr>
                                <a:rPr lang="en-US" sz="2400" i="1" b="0">
                                  <a:solidFill>
                                    <a:srgbClr val="196584"/>
                                  </a:solidFill>
                                  <a:latin typeface="Cambria Math"/>
                                </a:rPr>
                                <m:t xml:space="preserve">t</m:t>
                              </m:r>
                            </m:sub>
                          </m:sSub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024B3BC4-056E-4C40-8DCD-48379D965351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A=Q₁^{-1}Q₂^{-1}⋯Qₜ^{-1}</a:t>
                </a:r>
              </a:p>
            </p:txBody>
          </p:sp>
        </mc:Fallback>
      </mc:AlternateContent>
      <p:sp>
        <p:nvSpPr>
          <p:cNvPr id="9" name="content-5">
            <a:extLst>
              <a:ext uri="{FF2B5EF4-FFF2-40B4-BE49-F238E27FC236}">
                <a16:creationId xmlns:a16="http://schemas.microsoft.com/office/drawing/2014/main" id="{5E8C4F0B-70D2-4F50-8368-44A0ADD083CF}"/>
              </a:ext>
            </a:extLst>
          </p:cNvPr>
          <p:cNvSpPr>
            <a:spLocks noGrp="1"/>
          </p:cNvSpPr>
          <p:nvPr/>
        </p:nvSpPr>
        <p:spPr>
          <a:xfrm>
            <a:off x="762000" y="5619750"/>
            <a:ext cx="76200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每个 Qᵢ 的逆仍为初等矩阵，必要性得证。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A201972F-1146-4F66-9A59-6748AAE3CC3C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2.3 行等价的乘法刻画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57A3FC48-24F8-4E1D-B012-1D3105553E02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矩阵的初等变换·定理1(i)·p.61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2377D91E-D37D-4048-B75C-64001529C521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定理1（i） 设 A、B 均为 m×n 矩阵。</a:t>
            </a:r>
          </a:p>
        </p:txBody>
      </p:sp>
      <p:sp>
        <p:nvSpPr>
          <p:cNvPr id="6" name="content-2">
            <a:extLst>
              <a:ext uri="{FF2B5EF4-FFF2-40B4-BE49-F238E27FC236}">
                <a16:creationId xmlns:a16="http://schemas.microsoft.com/office/drawing/2014/main" id="{BC9F72D9-0062-4AB9-95E5-92C4E48C8E44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7620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A 与 B 行等价，当且仅当存在 m 阶可逆矩阵 P，使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4537885F-B6DB-4C02-8C14-235198C625B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4537885F-B6DB-4C02-8C14-235198C625B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PA=B</a:t>
                </a:r>
              </a:p>
            </p:txBody>
          </p:sp>
        </mc:Fallback>
      </mc:AlternateContent>
      <p:sp>
        <p:nvSpPr>
          <p:cNvPr id="8" name="content-4">
            <a:extLst>
              <a:ext uri="{FF2B5EF4-FFF2-40B4-BE49-F238E27FC236}">
                <a16:creationId xmlns:a16="http://schemas.microsoft.com/office/drawing/2014/main" id="{CFE3BFB6-E640-4EED-BB52-ABDA95E10CC0}"/>
              </a:ext>
            </a:extLst>
          </p:cNvPr>
          <p:cNvSpPr>
            <a:spLocks noGrp="1"/>
          </p:cNvSpPr>
          <p:nvPr/>
        </p:nvSpPr>
        <p:spPr>
          <a:xfrm>
            <a:off x="762000" y="52387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P 的阶数取决于行数 m。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9D5CC730-D55A-4E3E-854C-BBDC68CCC754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行等价刻画：证明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25726050-F404-42A0-AB89-15697BD3DCDD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矩阵的初等变换·定理1(i)证明·p.63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1B48FC79-FE2F-4F20-A1E9-60EFA48B3C2F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必要性：有限次行操作写成左乘初等矩阵。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A972FB83-108C-48AB-80CC-867E2AF57B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0987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i"/>
                            </m:rPr>
                            <a:rPr lang="en-US" sz="240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⋯</m:t>
                      </m:r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sSub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A972FB83-108C-48AB-80CC-867E2AF57B5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0987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B=Pₜ⋯P₂P₁A=PA</a:t>
                </a:r>
              </a:p>
            </p:txBody>
          </p:sp>
        </mc:Fallback>
      </mc:AlternateContent>
      <p:sp>
        <p:nvSpPr>
          <p:cNvPr id="7" name="content-3">
            <a:extLst>
              <a:ext uri="{FF2B5EF4-FFF2-40B4-BE49-F238E27FC236}">
                <a16:creationId xmlns:a16="http://schemas.microsoft.com/office/drawing/2014/main" id="{B181A56A-67A5-45B9-B6FC-A14981E3F559}"/>
              </a:ext>
            </a:extLst>
          </p:cNvPr>
          <p:cNvSpPr>
            <a:spLocks noGrp="1"/>
          </p:cNvSpPr>
          <p:nvPr/>
        </p:nvSpPr>
        <p:spPr>
          <a:xfrm>
            <a:off x="762000" y="3619500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P 为初等矩阵之积，故可逆。</a:t>
            </a:r>
          </a:p>
        </p:txBody>
      </p:sp>
      <p:sp>
        <p:nvSpPr>
          <p:cNvPr id="8" name="content-4">
            <a:extLst>
              <a:ext uri="{FF2B5EF4-FFF2-40B4-BE49-F238E27FC236}">
                <a16:creationId xmlns:a16="http://schemas.microsoft.com/office/drawing/2014/main" id="{A6E88672-C415-4119-B789-16E7E8C130FD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充分性：把可逆 P 分解成初等矩阵的乘积。</a:t>
            </a:r>
          </a:p>
        </p:txBody>
      </p:sp>
      <p:sp>
        <p:nvSpPr>
          <p:cNvPr id="9" name="content-5">
            <a:extLst>
              <a:ext uri="{FF2B5EF4-FFF2-40B4-BE49-F238E27FC236}">
                <a16:creationId xmlns:a16="http://schemas.microsoft.com/office/drawing/2014/main" id="{365FB070-442C-4098-BB99-F59FF926351E}"/>
              </a:ext>
            </a:extLst>
          </p:cNvPr>
          <p:cNvSpPr>
            <a:spLocks noGrp="1"/>
          </p:cNvSpPr>
          <p:nvPr/>
        </p:nvSpPr>
        <p:spPr>
          <a:xfrm>
            <a:off x="762000" y="5286375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左乘每一因子对应一次行变换，故 A 与 B 行等价。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FC6F2A31-E666-4397-9EA3-1E8068E101E9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列等价的乘法刻画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47D87CC0-00BB-42D3-9058-226563CC1C57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矩阵的初等变换·定理1(ii)·pp.61、63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185C0A48-00A1-4801-8E16-A0A1D069F9E9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定理1（ii） 设 A、B 均为 m×n 矩阵。</a:t>
            </a:r>
          </a:p>
        </p:txBody>
      </p:sp>
      <p:sp>
        <p:nvSpPr>
          <p:cNvPr id="6" name="content-2">
            <a:extLst>
              <a:ext uri="{FF2B5EF4-FFF2-40B4-BE49-F238E27FC236}">
                <a16:creationId xmlns:a16="http://schemas.microsoft.com/office/drawing/2014/main" id="{F9AC043D-44ED-4427-A97F-6A085E83BA2E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76200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A 与 B 列等价，当且仅当存在 n 阶可逆矩阵 Q，使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4C43EBDA-36BD-412D-9C66-A3E9777DB09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4C43EBDA-36BD-412D-9C66-A3E9777DB09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AQ=B</a:t>
                </a:r>
              </a:p>
            </p:txBody>
          </p:sp>
        </mc:Fallback>
      </mc:AlternateContent>
      <p:sp>
        <p:nvSpPr>
          <p:cNvPr id="8" name="content-4">
            <a:extLst>
              <a:ext uri="{FF2B5EF4-FFF2-40B4-BE49-F238E27FC236}">
                <a16:creationId xmlns:a16="http://schemas.microsoft.com/office/drawing/2014/main" id="{52E64AD1-E9EC-40ED-9DAD-0B1AC0E44A86}"/>
              </a:ext>
            </a:extLst>
          </p:cNvPr>
          <p:cNvSpPr>
            <a:spLocks noGrp="1"/>
          </p:cNvSpPr>
          <p:nvPr/>
        </p:nvSpPr>
        <p:spPr>
          <a:xfrm>
            <a:off x="762000" y="5238750"/>
            <a:ext cx="762000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必要性：列操作累乘为 Q；充分性：分解 Q 再逐次右乘。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D15ED8A3-3F10-43CF-B289-013924C3511A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一般等价的乘法刻画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D83A4DC1-C231-4043-AB62-78BC608C98AC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矩阵的初等变换·定理1(iii)·p.61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94A981BB-D6DA-46A6-B35F-07B6BCF880FF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定理1（iii） 设 A、B 均为 m×n 矩阵。</a:t>
            </a:r>
          </a:p>
        </p:txBody>
      </p:sp>
      <p:sp>
        <p:nvSpPr>
          <p:cNvPr id="6" name="content-2">
            <a:extLst>
              <a:ext uri="{FF2B5EF4-FFF2-40B4-BE49-F238E27FC236}">
                <a16:creationId xmlns:a16="http://schemas.microsoft.com/office/drawing/2014/main" id="{1C44C600-5DDD-4736-AF91-33689BB6DA71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A 与 B 等价，当且仅当存在可逆 P、Q，使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08A3980E-07F9-496D-BD75-1432A965167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08A3980E-07F9-496D-BD75-1432A965167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PAQ=B</a:t>
                </a:r>
              </a:p>
            </p:txBody>
          </p:sp>
        </mc:Fallback>
      </mc:AlternateContent>
      <p:sp>
        <p:nvSpPr>
          <p:cNvPr id="8" name="content-4">
            <a:extLst>
              <a:ext uri="{FF2B5EF4-FFF2-40B4-BE49-F238E27FC236}">
                <a16:creationId xmlns:a16="http://schemas.microsoft.com/office/drawing/2014/main" id="{72CF774B-13E5-4412-A8B7-4772F44C37F4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P 为 m 阶，Q 为 n 阶；允许行、列操作共同参与。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E91050DE-5873-49E4-89B9-9971FFDC8C53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一般等价刻画：证明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D9D644A3-EBCB-4E3B-8718-26B39D9F6886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矩阵的初等变换·定理1证明·p.63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76C92EE1-6165-4020-882A-F5814615B60F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必要性：行操作累积到左边，列操作累积到右边。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40DCA3CA-07CB-4565-ADD7-92B91F9C881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Q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R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Q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40DCA3CA-07CB-4565-ADD7-92B91F9C881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R(AQ)=(RA)Q</a:t>
                </a:r>
              </a:p>
            </p:txBody>
          </p:sp>
        </mc:Fallback>
      </mc:AlternateContent>
      <p:sp>
        <p:nvSpPr>
          <p:cNvPr id="7" name="content-3">
            <a:extLst>
              <a:ext uri="{FF2B5EF4-FFF2-40B4-BE49-F238E27FC236}">
                <a16:creationId xmlns:a16="http://schemas.microsoft.com/office/drawing/2014/main" id="{830532C3-C0F5-482E-9F10-11754F509820}"/>
              </a:ext>
            </a:extLst>
          </p:cNvPr>
          <p:cNvSpPr>
            <a:spLocks noGrp="1"/>
          </p:cNvSpPr>
          <p:nvPr/>
        </p:nvSpPr>
        <p:spPr>
          <a:xfrm>
            <a:off x="762000" y="3857625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结合律允许分组，得到 PAQ = B；P、Q 均可逆。</a:t>
            </a:r>
          </a:p>
        </p:txBody>
      </p:sp>
      <p:sp>
        <p:nvSpPr>
          <p:cNvPr id="8" name="content-4">
            <a:extLst>
              <a:ext uri="{FF2B5EF4-FFF2-40B4-BE49-F238E27FC236}">
                <a16:creationId xmlns:a16="http://schemas.microsoft.com/office/drawing/2014/main" id="{35ADDAD8-1DE8-4A58-9399-E1548282C8D5}"/>
              </a:ext>
            </a:extLst>
          </p:cNvPr>
          <p:cNvSpPr>
            <a:spLocks noGrp="1"/>
          </p:cNvSpPr>
          <p:nvPr/>
        </p:nvSpPr>
        <p:spPr>
          <a:xfrm>
            <a:off x="762000" y="4714875"/>
            <a:ext cx="76200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充分性：把 P、Q 分解为初等矩阵。</a:t>
            </a:r>
          </a:p>
        </p:txBody>
      </p:sp>
      <p:sp>
        <p:nvSpPr>
          <p:cNvPr id="9" name="content-5">
            <a:extLst>
              <a:ext uri="{FF2B5EF4-FFF2-40B4-BE49-F238E27FC236}">
                <a16:creationId xmlns:a16="http://schemas.microsoft.com/office/drawing/2014/main" id="{27995953-F346-429D-BC9F-E174FECE0CBB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先完成相应行操作，再完成列操作，A 就变为 B。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95BC0341-A634-49E0-B39F-AD5116374344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2.4 可逆性的等价条件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15003473-62AC-4454-8DB9-17E887CAFC61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对应知识点：第3章§1·性质2及定理1推论·pp.62–63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84027BD0-360C-4812-A0B2-9010BB08FFBC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对 n 阶方阵 A，下列条件等价：</a:t>
            </a:r>
          </a:p>
        </p:txBody>
      </p:sp>
      <p:sp>
        <p:nvSpPr>
          <p:cNvPr id="6" name="content-2">
            <a:extLst>
              <a:ext uri="{FF2B5EF4-FFF2-40B4-BE49-F238E27FC236}">
                <a16:creationId xmlns:a16="http://schemas.microsoft.com/office/drawing/2014/main" id="{2D5467D1-7289-4AC2-969E-0CF155C95FEC}"/>
              </a:ext>
            </a:extLst>
          </p:cNvPr>
          <p:cNvSpPr>
            <a:spLocks noGrp="1"/>
          </p:cNvSpPr>
          <p:nvPr/>
        </p:nvSpPr>
        <p:spPr>
          <a:xfrm>
            <a:off x="762000" y="27146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① A 可逆；</a:t>
            </a:r>
          </a:p>
        </p:txBody>
      </p:sp>
      <p:sp>
        <p:nvSpPr>
          <p:cNvPr id="7" name="content-3">
            <a:extLst>
              <a:ext uri="{FF2B5EF4-FFF2-40B4-BE49-F238E27FC236}">
                <a16:creationId xmlns:a16="http://schemas.microsoft.com/office/drawing/2014/main" id="{E01FEDFF-36B4-4E73-ACA7-23FDA176B3C8}"/>
              </a:ext>
            </a:extLst>
          </p:cNvPr>
          <p:cNvSpPr>
            <a:spLocks noGrp="1"/>
          </p:cNvSpPr>
          <p:nvPr/>
        </p:nvSpPr>
        <p:spPr>
          <a:xfrm>
            <a:off x="762000" y="34766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② A 与 E 行等价；</a:t>
            </a:r>
          </a:p>
        </p:txBody>
      </p:sp>
      <p:sp>
        <p:nvSpPr>
          <p:cNvPr id="8" name="content-4">
            <a:extLst>
              <a:ext uri="{FF2B5EF4-FFF2-40B4-BE49-F238E27FC236}">
                <a16:creationId xmlns:a16="http://schemas.microsoft.com/office/drawing/2014/main" id="{5CB0B9C1-55D5-461B-91E3-1E033D492C74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③ A 与 E 列等价；</a:t>
            </a:r>
          </a:p>
        </p:txBody>
      </p:sp>
      <p:sp>
        <p:nvSpPr>
          <p:cNvPr id="9" name="content-5">
            <a:extLst>
              <a:ext uri="{FF2B5EF4-FFF2-40B4-BE49-F238E27FC236}">
                <a16:creationId xmlns:a16="http://schemas.microsoft.com/office/drawing/2014/main" id="{D075F14A-B9FF-403C-9966-309280AF805C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762000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④ A 与 E 等价。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9FB992B4-8C23-49FD-A7FA-B5A2195C39F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可逆与行等价：推论证明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6D0EBBD3-A3AE-43C5-9C23-1C71CB5C8AD7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矩阵的初等变换·定理1推论及证明·p.63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1A9F5664-2DD0-4E87-89D8-537B09736AA4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若 A 可逆，取 P = A⁻¹，则 PA = E。</a:t>
            </a:r>
          </a:p>
        </p:txBody>
      </p:sp>
      <p:sp>
        <p:nvSpPr>
          <p:cNvPr id="6" name="content-2">
            <a:extLst>
              <a:ext uri="{FF2B5EF4-FFF2-40B4-BE49-F238E27FC236}">
                <a16:creationId xmlns:a16="http://schemas.microsoft.com/office/drawing/2014/main" id="{D2C6B392-1E6D-4642-97B9-5745F1814EB0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由定理1，A 与 E 行等价。</a:t>
            </a:r>
          </a:p>
        </p:txBody>
      </p:sp>
      <p:sp>
        <p:nvSpPr>
          <p:cNvPr id="7" name="content-3">
            <a:extLst>
              <a:ext uri="{FF2B5EF4-FFF2-40B4-BE49-F238E27FC236}">
                <a16:creationId xmlns:a16="http://schemas.microsoft.com/office/drawing/2014/main" id="{108ECF9B-E272-4A1D-9ACC-DDC002A12B42}"/>
              </a:ext>
            </a:extLst>
          </p:cNvPr>
          <p:cNvSpPr>
            <a:spLocks noGrp="1"/>
          </p:cNvSpPr>
          <p:nvPr/>
        </p:nvSpPr>
        <p:spPr>
          <a:xfrm>
            <a:off x="762000" y="4048125"/>
            <a:ext cx="762000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若 A 与 E 行等价，存在可逆 P，使 PA = E。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F2ACBF2B-C80F-4845-8820-CE90B9F8D99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9587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F2ACBF2B-C80F-4845-8820-CE90B9F8D99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9587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A=P^{-1}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82EF3A4E-DAF0-465F-BE77-A035BC23FAFF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同阶方阵的单侧单位积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EF70815E-FB87-4A31-995E-F031078DA72A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第2章 §3 一、推论，p.40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2CCF7A2C-8391-4E7C-8199-2737C4E5AB75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设A、B均为n阶方阵。则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E98F5B78-B7EB-4800-A709-5EAC770196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⇒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E98F5B78-B7EB-4800-A709-5EAC7701961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AB=E ⇒ B=A^{-1}， BA=E</a:t>
                </a:r>
              </a:p>
            </p:txBody>
          </p:sp>
        </mc:Fallback>
      </mc:AlternateContent>
      <p:sp>
        <p:nvSpPr>
          <p:cNvPr id="6" name="content-3">
            <a:extLst>
              <a:ext uri="{FF2B5EF4-FFF2-40B4-BE49-F238E27FC236}">
                <a16:creationId xmlns:a16="http://schemas.microsoft.com/office/drawing/2014/main" id="{D941AB18-457E-4DAF-BFEC-E27E8DA3655C}"/>
              </a:ext>
            </a:extLst>
          </p:cNvPr>
          <p:cNvSpPr>
            <a:spLocks noGrp="1"/>
          </p:cNvSpPr>
          <p:nvPr/>
        </p:nvSpPr>
        <p:spPr>
          <a:xfrm>
            <a:off x="762000" y="4095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同阶方阵是本结论的必要条件。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29A16894-AC42-42BD-A34C-750B29533844}"/>
              </a:ext>
            </a:extLst>
          </p:cNvPr>
          <p:cNvSpPr>
            <a:spLocks noGrp="1"/>
          </p:cNvSpPr>
          <p:nvPr/>
        </p:nvSpPr>
        <p:spPr>
          <a:xfrm>
            <a:off x="762000" y="5048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下面只用行最简形和初等矩阵证明。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lecture-title">
            <a:extLst>
              <a:ext uri="{FF2B5EF4-FFF2-40B4-BE49-F238E27FC236}">
                <a16:creationId xmlns:a16="http://schemas.microsoft.com/office/drawing/2014/main" id="{2392E9A4-047C-48F9-BF02-9BB699B49813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单侧单位积的证明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799F58A1-34A9-4F28-8683-10C6B714F9D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对应：第2章 §3 一、推论，p.40；第3章 §1，p.63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FE19C7A0-93EE-4436-8B40-86F69778FF27}"/>
              </a:ext>
            </a:extLst>
          </p:cNvPr>
          <p:cNvSpPr>
            <a:spLocks noGrp="1"/>
          </p:cNvSpPr>
          <p:nvPr/>
        </p:nvSpPr>
        <p:spPr>
          <a:xfrm>
            <a:off x="762000" y="1857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设AB=E。用行变换使PA=F，F为行最简形，P可逆。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5852ED41-CCF3-4F11-8B51-E1BF9EC044F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62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5852ED41-CCF3-4F11-8B51-E1BF9EC044F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62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FB=(PA)B=P(AB)=P</a:t>
                </a:r>
              </a:p>
            </p:txBody>
          </p:sp>
        </mc:Fallback>
      </mc:AlternateContent>
      <p:sp>
        <p:nvSpPr>
          <p:cNvPr id="6" name="content-3">
            <a:extLst>
              <a:ext uri="{FF2B5EF4-FFF2-40B4-BE49-F238E27FC236}">
                <a16:creationId xmlns:a16="http://schemas.microsoft.com/office/drawing/2014/main" id="{E9E5876D-1237-46A1-B538-CE012F1EF64E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若F有零行，则FB也有零行；这与P可逆矛盾。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F85FC7AA-37C8-4A2D-B628-170EB330914D}"/>
              </a:ext>
            </a:extLst>
          </p:cNvPr>
          <p:cNvSpPr>
            <a:spLocks noGrp="1"/>
          </p:cNvSpPr>
          <p:nvPr/>
        </p:nvSpPr>
        <p:spPr>
          <a:xfrm>
            <a:off x="762000" y="45243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F是无零行的n阶行最简方阵，因此F=E。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C354854A-63E9-40F7-9760-8AE563D7FA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381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P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1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C354854A-63E9-40F7-9760-8AE563D7FAB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381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A=P^{-1}， B=(PA)B=P(AB)=P=A^{-1}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7EECC0E9-422E-436D-BC3A-9565EAE12478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  逆矩阵的计算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69B075D5-58ED-4582-9AB3-D246BEF19FBB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例2，p.64；第2章 §5 规则(v)、例18，p.49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F2F2FE4E-179A-43F5-8446-105EF0647393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提纲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AABBBA1F-22C9-479B-966B-FF32A7ED0FE6}"/>
              </a:ext>
            </a:extLst>
          </p:cNvPr>
          <p:cNvSpPr>
            <a:spLocks noGrp="1"/>
          </p:cNvSpPr>
          <p:nvPr/>
        </p:nvSpPr>
        <p:spPr>
          <a:xfrm>
            <a:off x="762000" y="2905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3.1  同步行变换求逆</a:t>
            </a:r>
          </a:p>
        </p:txBody>
      </p:sp>
      <p:sp>
        <p:nvSpPr>
          <p:cNvPr id="6" name="content-3">
            <a:extLst>
              <a:ext uri="{FF2B5EF4-FFF2-40B4-BE49-F238E27FC236}">
                <a16:creationId xmlns:a16="http://schemas.microsoft.com/office/drawing/2014/main" id="{BB6E84BA-EDE3-4469-BEEA-DD58A82D4121}"/>
              </a:ext>
            </a:extLst>
          </p:cNvPr>
          <p:cNvSpPr>
            <a:spLocks noGrp="1"/>
          </p:cNvSpPr>
          <p:nvPr/>
        </p:nvSpPr>
        <p:spPr>
          <a:xfrm>
            <a:off x="762000" y="3857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3.2  教材例2与结果验证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5A2A0A99-AE29-45F7-8D81-F1098FB224CE}"/>
              </a:ext>
            </a:extLst>
          </p:cNvPr>
          <p:cNvSpPr>
            <a:spLocks noGrp="1"/>
          </p:cNvSpPr>
          <p:nvPr/>
        </p:nvSpPr>
        <p:spPr>
          <a:xfrm>
            <a:off x="762000" y="48101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3.3  不可逆情形与分块求逆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293299B4-90AC-44AF-A42E-9F667EC41A7C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3.1 同步行变换求逆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AA268E4A-38E3-4910-9FDA-C5A365C2880D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矩阵的初等变换·例2求逆方法·pp.64–65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EAED8B4A-4A14-4FC4-8D0E-43B02BD94714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在 A 旁拼接同阶单位矩阵，整行同步操作。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DD1B04D5-B3B3-4A70-A128-F2BBF0D65CA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0037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→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DD1B04D5-B3B3-4A70-A128-F2BBF0D65CA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00037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(A，E) → (E，A^{-1})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C76A979E-9BE7-479B-97B8-23A8AF05699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C76A979E-9BE7-479B-97B8-23A8AF05699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P(A，E)=(PA，P)=(E，A^{-1})</a:t>
                </a:r>
              </a:p>
            </p:txBody>
          </p:sp>
        </mc:Fallback>
      </mc:AlternateContent>
      <p:sp>
        <p:nvSpPr>
          <p:cNvPr id="8" name="content-4">
            <a:extLst>
              <a:ext uri="{FF2B5EF4-FFF2-40B4-BE49-F238E27FC236}">
                <a16:creationId xmlns:a16="http://schemas.microsoft.com/office/drawing/2014/main" id="{FE566E2E-D481-448B-994D-00247D9D9A45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若左块无法化成 E，则 A 不可逆。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ecture-title">
            <a:extLst>
              <a:ext uri="{FF2B5EF4-FFF2-40B4-BE49-F238E27FC236}">
                <a16:creationId xmlns:a16="http://schemas.microsoft.com/office/drawing/2014/main" id="{CA683D05-6F30-4869-A807-908F26C20D08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同步求逆：二阶示例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AEF2AFDC-AF6A-4E3C-9CEF-59FFD272FDC2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矩阵的初等变换，pp.63–64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4E5265B9-0638-466A-9743-3AF4F2253A5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285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6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6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6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6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6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6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4E5265B9-0638-466A-9743-3AF4F2253A5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285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1; 1  2]</a:t>
                </a:r>
              </a:p>
            </p:txBody>
          </p:sp>
        </mc:Fallback>
      </mc:AlternateContent>
      <p:sp>
        <p:nvSpPr>
          <p:cNvPr id="5" name="content-2">
            <a:extLst>
              <a:ext uri="{FF2B5EF4-FFF2-40B4-BE49-F238E27FC236}">
                <a16:creationId xmlns:a16="http://schemas.microsoft.com/office/drawing/2014/main" id="{94EAAE54-2862-4AFB-906E-3FB758399EEE}"/>
              </a:ext>
            </a:extLst>
          </p:cNvPr>
          <p:cNvSpPr>
            <a:spLocks noGrp="1"/>
          </p:cNvSpPr>
          <p:nvPr/>
        </p:nvSpPr>
        <p:spPr>
          <a:xfrm>
            <a:off x="762000" y="4238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把同阶单位矩阵拼接在右侧，对整体作行变换。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7BE17C96-6F46-4272-945D-C9032C92528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00625"/>
                <a:ext cx="7620000" cy="1047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7BE17C96-6F46-4272-945D-C9032C92528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00625"/>
                <a:ext cx="7620000" cy="1047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0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 1  1  0; 1  2  0  1]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5129E68E-A073-4280-9830-1315AEC49620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二阶示例：同步消元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FCD638B1-1126-47BB-9CF5-AC34810ADFC6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矩阵的初等变换，pp.63–64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BCBB324B-6FC3-4912-802A-2FA9335D11C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2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2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2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BCBB324B-6FC3-4912-802A-2FA9335D11C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r₂ ← r₂ − r₁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85F79BEF-928D-4C2E-8766-FA9DD7B5C1F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14625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85F79BEF-928D-4C2E-8766-FA9DD7B5C1F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14625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 1  1  0; 0  1  -1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22118D35-AB25-4CA8-813D-E142A1E1FB2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1910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2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2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2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22118D35-AB25-4CA8-813D-E142A1E1FB2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1910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2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r₁ ← r₁ − r₂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2196870E-E584-4DEA-B36E-A55EE52075F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905375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2196870E-E584-4DEA-B36E-A55EE52075F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905375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550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 0  2  -1; 0  1  -1  1]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lecture-title">
            <a:extLst>
              <a:ext uri="{FF2B5EF4-FFF2-40B4-BE49-F238E27FC236}">
                <a16:creationId xmlns:a16="http://schemas.microsoft.com/office/drawing/2014/main" id="{15C52D51-FB0D-45E0-A010-A953B4C38B79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二阶示例：验证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EBBBB924-9A8A-4F02-87CB-DF7392F0969D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矩阵的初等变换，pp.63–64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C140A91D-E5B0-4D7C-B6B4-A28183F359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bi"/>
                            </m:rPr>
                            <a:rPr lang="en-US" sz="26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6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6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6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6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6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6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6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6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C140A91D-E5B0-4D7C-B6B4-A28183F3597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6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A^{-1}=[2  -1; -1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A9C1845F-F681-48B9-9AE2-CE259BBCA8D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1285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A9C1845F-F681-48B9-9AE2-CE259BBCA8D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238625"/>
                <a:ext cx="7620000" cy="12858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 1; 1  2][2  -1; -1  1]=[1  0; 0  1]</a:t>
                </a:r>
              </a:p>
            </p:txBody>
          </p:sp>
        </mc:Fallback>
      </mc:AlternateContent>
      <p:sp>
        <p:nvSpPr>
          <p:cNvPr id="6" name="content-3">
            <a:extLst>
              <a:ext uri="{FF2B5EF4-FFF2-40B4-BE49-F238E27FC236}">
                <a16:creationId xmlns:a16="http://schemas.microsoft.com/office/drawing/2014/main" id="{FC6A140D-2A4E-4087-9D87-55966679C888}"/>
              </a:ext>
            </a:extLst>
          </p:cNvPr>
          <p:cNvSpPr>
            <a:spLocks noGrp="1"/>
          </p:cNvSpPr>
          <p:nvPr/>
        </p:nvSpPr>
        <p:spPr>
          <a:xfrm>
            <a:off x="762000" y="5715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还可验算另一侧乘积；结果必须是单位矩阵。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82230C76-D3A8-4972-B8D3-DC3D7581941B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3.2 教材例2：求逆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E7ACE474-788D-4AC3-B3C6-AE612D6C0652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矩阵的初等变换·例2·p.64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7BFC7AEB-101F-4C01-AA4C-D16BB57B057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8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8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7BFC7AEB-101F-4C01-AA4C-D16BB57B057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A=[0  -2  1; 3  0  -2; -2  3  0]</a:t>
                </a:r>
              </a:p>
            </p:txBody>
          </p:sp>
        </mc:Fallback>
      </mc:AlternateContent>
      <p:sp>
        <p:nvSpPr>
          <p:cNvPr id="6" name="content-2">
            <a:extLst>
              <a:ext uri="{FF2B5EF4-FFF2-40B4-BE49-F238E27FC236}">
                <a16:creationId xmlns:a16="http://schemas.microsoft.com/office/drawing/2014/main" id="{A3EED163-9486-4C8D-B402-D8927938D381}"/>
              </a:ext>
            </a:extLst>
          </p:cNvPr>
          <p:cNvSpPr>
            <a:spLocks noGrp="1"/>
          </p:cNvSpPr>
          <p:nvPr/>
        </p:nvSpPr>
        <p:spPr>
          <a:xfrm>
            <a:off x="762000" y="476250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对增广矩阵 (A，E) 只作初等行变换。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FC280BBA-A345-4165-8CA3-A9603DFC049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例2：同步化简（1）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C0A71E8C-1AFB-4CDC-8BB7-2B7034717885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矩阵的初等变换·例2·p.64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EDE551A3-7F1E-4425-8D85-A4465D7BDF5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↔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EDE551A3-7F1E-4425-8D85-A4465D7BDF56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r₁ ↔ r₂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52000F37-2400-418F-BF4A-6325196B707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52000F37-2400-418F-BF4A-6325196B707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[3  0  -2  0  1  0; 0  -2  1  1  0  0; -2  3  0  0  0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A19E8FB3-40CA-44A2-8B8F-BD5E181A820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A19E8FB3-40CA-44A2-8B8F-BD5E181A820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r₃ ← r₃ + (2/3)r₁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FD5FB3E7-1F81-4F94-9A1B-802323D66DD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f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sz="20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4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0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f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sz="20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2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0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FD5FB3E7-1F81-4F94-9A1B-802323D66DD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[3  0  -2  0  1  0; 0  -2  1  1  0  0; 0  3  -4/3  0  2/3  1]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91954810-63E1-4487-AAC5-A7D2A24A4468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例2：同步化简（2）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0056D8D4-27EE-4683-A416-36B80D1345D9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矩阵的初等变换·例2·p.64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AD70E716-6B2C-46EE-BA87-775CA4AA8E7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AD70E716-6B2C-46EE-BA87-775CA4AA8E7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r₃ ← r₃ + (3/2)r₂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6E3C79D1-4983-4504-A186-95E9ECACC6F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f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sz="20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0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6</m:t>
                                    </m:r>
                                  </m:den>
                                </m:f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f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sz="20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3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0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2</m:t>
                                    </m:r>
                                  </m:den>
                                </m:f>
                              </m:e>
                              <m:e>
                                <m:f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sz="20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2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025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3</m:t>
                                    </m:r>
                                  </m:den>
                                </m:f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6E3C79D1-4983-4504-A186-95E9ECACC6F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[3  0  -2  0  1  0; 0  -2  1  1  0  0; 0  0  1/6  3/2  2/3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B024C679-608E-44B5-949D-3017627567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6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B024C679-608E-44B5-949D-3017627567A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r₃ ← 6r₃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6FBDE52E-55DC-47B4-B0D6-603632FBC40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9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6FBDE52E-55DC-47B4-B0D6-603632FBC40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[3  0  -2  0  1  0; 0  -2  1  1  0  0; 0  0  1  9  4  6]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6F1DEE57-4385-4675-A83A-DBD6413A1CDA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例2：同步化简（3）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08839DDE-5CF8-4DDE-B3DC-E090B83BEBD5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矩阵的初等变换·例2·p.64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54537AB7-ACCD-4BDB-B6CA-71711DFA17D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54537AB7-ACCD-4BDB-B6CA-71711DFA17D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r₁ ← r₁ + 2r₃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2023B042-F839-4EB1-9D10-8BF20ADDBC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8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9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9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2023B042-F839-4EB1-9D10-8BF20ADDBCA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[3  0  0  18  9  12; 0  -2  1  1  0  0; 0  0  1  9  4  6]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D84095F4-B83D-471A-BD7A-50CFFF3F66F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D84095F4-B83D-471A-BD7A-50CFFF3F66F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r₂ ← r₂ − r₃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0F622F9C-BE90-4594-86DA-035A96527E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8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9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8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6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9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0F622F9C-BE90-4594-86DA-035A96527E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[3  0  0  18  9  12; 0  -2  0  -8  -4  -6; 0  0  1  9  4  6]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EE7C6147-2EF7-4CC0-9721-3F84367027A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例2：同步化简（4）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2D80E9A3-ED4B-4ECB-AC9D-10F22301E612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矩阵的初等变换·例2·p.64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514A9658-196A-4217-92ED-3382245DFB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514A9658-196A-4217-92ED-3382245DFB5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r₁ ← (1/3)r₁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0D87A88C-91FC-4CDF-9C64-74479AF0DE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6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8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6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9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0D87A88C-91FC-4CDF-9C64-74479AF0DE3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[1  0  0  6  3  4; 0  -2  0  -8  -4  -6; 0  0  1  9  4  6]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72E738D8-E5A8-4DCC-9B60-D19770D7966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72E738D8-E5A8-4DCC-9B60-D19770D7966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r₂ ← (−1/2)r₂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E166C9BE-EAE3-409A-A827-3CC0B24C359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6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9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02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E166C9BE-EAE3-409A-A827-3CC0B24C359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02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[1  0  0  6  3  4; 0  1  0  4  2  3; 0  0  1  9  4  6]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E5BFA1AC-796C-4E76-84A7-C340B29466E9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例2：结果与验证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314CEEC1-C05A-4B86-8C21-7982DAE45402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矩阵的初等变换·例2·p.64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00E4C02C-F216-4D1F-A512-AB19A41E3EF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190750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bi"/>
                            </m:rPr>
                            <a:rPr lang="en-US" sz="27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7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7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6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9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00E4C02C-F216-4D1F-A512-AB19A41E3EF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190750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A^{-1}=[6  3  4; 4  2  3; 9  4  6]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6DBC87BA-D52D-41E9-95D5-A3A1D7153D7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6DBC87BA-D52D-41E9-95D5-A3A1D7153D7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762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AA^{-1}=A^{-1}A=E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B74810B3-B514-4F0C-B2C1-8DA537ED9B11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不可逆情形：左块出现零行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E198F2AC-DEF6-44CB-A89B-A23B197C59FE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定理1推论，p.63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5B6909AC-5836-4576-9BEB-D4C271A62E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95500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1">
                <a:extLst>
                  <a:ext uri="{FF2B5EF4-FFF2-40B4-BE49-F238E27FC236}">
                    <a16:creationId xmlns:a16="http://schemas.microsoft.com/office/drawing/2014/main" id="{5B6909AC-5836-4576-9BEB-D4C271A62EF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95500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A=[1  2; 2  4]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77EE2DBC-4FA2-41DA-A14D-310A8BEEFED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667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217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17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2175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2">
                <a:extLst>
                  <a:ext uri="{FF2B5EF4-FFF2-40B4-BE49-F238E27FC236}">
                    <a16:creationId xmlns:a16="http://schemas.microsoft.com/office/drawing/2014/main" id="{77EE2DBC-4FA2-41DA-A14D-310A8BEEFED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667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r₂ ← r₂ − 2r₁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1A7290B3-DD7D-46A3-ACCA-E76F90EBB5C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476750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1 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1A7290B3-DD7D-46A3-ACCA-E76F90EBB5C4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476750"/>
                <a:ext cx="7620000" cy="1190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4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[1  2  1  0; 0  0  -2  1]</a:t>
                </a:r>
              </a:p>
            </p:txBody>
          </p:sp>
        </mc:Fallback>
      </mc:AlternateContent>
      <p:sp>
        <p:nvSpPr>
          <p:cNvPr id="7" name="content-4">
            <a:extLst>
              <a:ext uri="{FF2B5EF4-FFF2-40B4-BE49-F238E27FC236}">
                <a16:creationId xmlns:a16="http://schemas.microsoft.com/office/drawing/2014/main" id="{5C72E737-7A3C-45F5-8B8E-867A1056EB14}"/>
              </a:ext>
            </a:extLst>
          </p:cNvPr>
          <p:cNvSpPr>
            <a:spLocks noGrp="1"/>
          </p:cNvSpPr>
          <p:nvPr/>
        </p:nvSpPr>
        <p:spPr>
          <a:xfrm>
            <a:off x="762000" y="581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左块不能经行变换化成E，因此A不可逆。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 xmlns:p="http://schemas.openxmlformats.org/presentationml/2006/main"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ecture-title">
            <a:extLst>
              <a:ext uri="{FF2B5EF4-FFF2-40B4-BE49-F238E27FC236}">
                <a16:creationId xmlns:a16="http://schemas.microsoft.com/office/drawing/2014/main" id="{A59C1529-89D2-4900-A9E5-94E44A65739F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随堂选择题 2：同步求逆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F52CED0E-9390-44BF-A38D-4CCCDA69526A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矩阵的初等变换，pp.63–64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42408DB0-AC60-46CB-8BD6-45B15D93BF07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对(A，E)作初等行变换，左块化为E，右块为C。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9450A126-CF25-4F17-96A0-F798475D06B7}"/>
              </a:ext>
            </a:extLst>
          </p:cNvPr>
          <p:cNvSpPr>
            <a:spLocks noGrp="1"/>
          </p:cNvSpPr>
          <p:nvPr/>
        </p:nvSpPr>
        <p:spPr>
          <a:xfrm>
            <a:off x="762000" y="2667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下列解释正确的是：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DFD9F9DB-210E-4B59-9181-62DA97F73CB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476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T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3">
                <a:extLst>
                  <a:ext uri="{FF2B5EF4-FFF2-40B4-BE49-F238E27FC236}">
                    <a16:creationId xmlns:a16="http://schemas.microsoft.com/office/drawing/2014/main" id="{DFD9F9DB-210E-4B59-9181-62DA97F73CB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4766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A.  C=A^T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7FAF1B00-6F10-4942-B675-A67FC2B5E6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143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故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17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17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4">
                <a:extLst>
                  <a:ext uri="{FF2B5EF4-FFF2-40B4-BE49-F238E27FC236}">
                    <a16:creationId xmlns:a16="http://schemas.microsoft.com/office/drawing/2014/main" id="{7FAF1B00-6F10-4942-B675-A67FC2B5E66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1433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B.  CA=E，故 C=A^{-1}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A543EEFF-BB49-4A43-B19E-4D5050C4276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10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.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5">
                <a:extLst>
                  <a:ext uri="{FF2B5EF4-FFF2-40B4-BE49-F238E27FC236}">
                    <a16:creationId xmlns:a16="http://schemas.microsoft.com/office/drawing/2014/main" id="{A543EEFF-BB49-4A43-B19E-4D5050C4276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1012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17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C.  C=A</a:t>
                </a:r>
              </a:p>
            </p:txBody>
          </p:sp>
        </mc:Fallback>
      </mc:AlternateContent>
      <p:sp>
        <p:nvSpPr>
          <p:cNvPr id="9" name="content-6">
            <a:extLst>
              <a:ext uri="{FF2B5EF4-FFF2-40B4-BE49-F238E27FC236}">
                <a16:creationId xmlns:a16="http://schemas.microsoft.com/office/drawing/2014/main" id="{64CEE0AA-FEE0-4007-9B19-8954D8537465}"/>
              </a:ext>
            </a:extLst>
          </p:cNvPr>
          <p:cNvSpPr>
            <a:spLocks noGrp="1"/>
          </p:cNvSpPr>
          <p:nvPr/>
        </p:nvSpPr>
        <p:spPr>
          <a:xfrm>
            <a:off x="762000" y="5334000"/>
            <a:ext cx="7620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D.  对(A，E)混合使用行、列变换，也总能这样求逆。</a:t>
            </a:r>
          </a:p>
        </p:txBody>
      </p:sp>
      <p:sp>
        <p:nvSpPr>
          <p:cNvPr id="10" name="content-7">
            <a:extLst>
              <a:ext uri="{FF2B5EF4-FFF2-40B4-BE49-F238E27FC236}">
                <a16:creationId xmlns:a16="http://schemas.microsoft.com/office/drawing/2014/main" id="{CB49180A-0135-41F9-A380-767B0664F08A}"/>
              </a:ext>
            </a:extLst>
          </p:cNvPr>
          <p:cNvSpPr>
            <a:spLocks noGrp="1"/>
          </p:cNvSpPr>
          <p:nvPr/>
        </p:nvSpPr>
        <p:spPr>
          <a:xfrm>
            <a:off x="762000" y="5857875"/>
            <a:ext cx="7620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6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请打开学习通作答。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FB9CCBB0-4576-4405-95B5-A38EC6E0E74D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3.3 分块对角矩阵的逆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C7893039-2231-4326-87F4-19514868FE01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第2章§5 矩阵分块法·(v)分块对角矩阵的逆·p.49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D850B133-2F2E-432C-97CC-D2C93761370E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各对角块 Aᵢ 均可逆时，整体可逆，且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28C55BD1-66AC-4694-8072-9EEEDAC03D8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62250"/>
                <a:ext cx="7620000" cy="1619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2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en-US" sz="2250" i="1" b="1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250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1</m:t>
                                    </m:r>
                                  </m:sub>
                                </m:sSub>
                              </m:e>
                              <m:e>
                                <m:r>
                                  <m:rPr>
                                    <m:sty m:val="bi"/>
                                  </m:rPr>
                                  <a:rPr lang="en-US" sz="2250" i="1" b="1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O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bi"/>
                                  </m:rPr>
                                  <a:rPr lang="en-US" sz="2250" i="1" b="1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O</m:t>
                                </m:r>
                              </m:e>
                              <m:e>
                                <m:sSub>
                                  <m:e>
                                    <m:r>
                                      <m:rPr>
                                        <m:sty m:val="bi"/>
                                      </m:rPr>
                                      <a:rPr lang="en-US" sz="2250" i="1" b="1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A</m:t>
                                    </m:r>
                                  </m:e>
                                  <m:sub>
                                    <m:r>
                                      <m:rPr>
                                        <m:sty m:val="p"/>
                                      </m:rPr>
                                      <a:rPr lang="en-US" sz="2250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2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2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2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2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sSup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en-US" sz="2250" i="1" b="1">
                                            <a:solidFill>
                                              <a:srgbClr val="196584"/>
                                            </a:solidFill>
                                            <a:latin typeface="Cambria Math"/>
                                          </a:rPr>
                                          <m:t xml:space="preserve"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50" i="0" b="0">
                                            <a:solidFill>
                                              <a:srgbClr val="196584"/>
                                            </a:solidFill>
                                            <a:latin typeface="Cambria Math"/>
                                          </a:rPr>
                                          <m:t xml:space="preserve">1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2250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-1</m:t>
                                    </m:r>
                                  </m:sup>
                                </m:sSup>
                              </m:e>
                              <m:e>
                                <m:r>
                                  <m:rPr>
                                    <m:sty m:val="bi"/>
                                  </m:rPr>
                                  <a:rPr lang="en-US" sz="2250" i="1" b="1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O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bi"/>
                                  </m:rPr>
                                  <a:rPr lang="en-US" sz="2250" i="1" b="1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O</m:t>
                                </m:r>
                              </m:e>
                              <m:e>
                                <m:sSup>
                                  <m:e>
                                    <m:sSub>
                                      <m:e>
                                        <m:r>
                                          <m:rPr>
                                            <m:sty m:val="bi"/>
                                          </m:rPr>
                                          <a:rPr lang="en-US" sz="2250" i="1" b="1">
                                            <a:solidFill>
                                              <a:srgbClr val="196584"/>
                                            </a:solidFill>
                                            <a:latin typeface="Cambria Math"/>
                                          </a:rPr>
                                          <m:t xml:space="preserve">A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2250" i="0" b="0">
                                            <a:solidFill>
                                              <a:srgbClr val="196584"/>
                                            </a:solidFill>
                                            <a:latin typeface="Cambria Math"/>
                                          </a:rPr>
                                          <m:t xml:space="preserve">2</m:t>
                                        </m:r>
                                      </m:sub>
                                    </m:sSub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US" sz="2250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-1</m:t>
                                    </m:r>
                                  </m:sup>
                                </m:sSup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28C55BD1-66AC-4694-8072-9EEEDAC03D8E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762250"/>
                <a:ext cx="7620000" cy="16192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2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A=[A₁  O; O  A₂]， A^{-1}=[A₁^{-1}  O; O  A₂^{-1}]</a:t>
                </a:r>
              </a:p>
            </p:txBody>
          </p:sp>
        </mc:Fallback>
      </mc:AlternateContent>
      <p:sp>
        <p:nvSpPr>
          <p:cNvPr id="7" name="content-3">
            <a:extLst>
              <a:ext uri="{FF2B5EF4-FFF2-40B4-BE49-F238E27FC236}">
                <a16:creationId xmlns:a16="http://schemas.microsoft.com/office/drawing/2014/main" id="{113F341A-DD20-4F21-B2E5-07457A34F9C3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直接分块相乘，两个方向都得到单位矩阵。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B16461EA-5111-4451-8143-F217B97661D1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教材例18：分块求逆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F7CF0D1E-3B9A-4815-8D0D-BD92D96C3C34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第2章§5 矩阵分块法·例18·p.49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26ACFCD3-188E-4FE4-B4FF-1915EFB3D82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7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7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7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26ACFCD3-188E-4FE4-B4FF-1915EFB3D82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7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A=[5  0  0; 0  3  1; 0  2  1]</a:t>
                </a:r>
              </a:p>
            </p:txBody>
          </p:sp>
        </mc:Fallback>
      </mc:AlternateContent>
      <p:sp>
        <p:nvSpPr>
          <p:cNvPr id="6" name="content-2">
            <a:extLst>
              <a:ext uri="{FF2B5EF4-FFF2-40B4-BE49-F238E27FC236}">
                <a16:creationId xmlns:a16="http://schemas.microsoft.com/office/drawing/2014/main" id="{E7738B3E-66D0-4FAD-B417-30FB75FE7C73}"/>
              </a:ext>
            </a:extLst>
          </p:cNvPr>
          <p:cNvSpPr>
            <a:spLocks noGrp="1"/>
          </p:cNvSpPr>
          <p:nvPr/>
        </p:nvSpPr>
        <p:spPr>
          <a:xfrm>
            <a:off x="762000" y="4667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 A 分成一个 1 阶块和一个 2 阶块。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00C74367-4C62-4361-89B5-3B2B17DFC1F3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例18：逆矩阵与验证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EF292833-699D-46D2-9D1C-F0C070D094E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第2章§5 矩阵分块法·例18·p.49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C1AC48F4-07A5-4367-B6E6-7D7B1E0A47E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95500"/>
                <a:ext cx="7620000" cy="1428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40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C1AC48F4-07A5-4367-B6E6-7D7B1E0A47E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095500"/>
                <a:ext cx="7620000" cy="1428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B=[3  1; 2  1]， B^{-1}=[1  -1; -2  3]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8A3DA89C-DEFC-4AF1-9B39-BA1E4DDC08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1762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p>
                        <m:e>
                          <m:r>
                            <m:rPr>
                              <m:sty m:val="bi"/>
                            </m:rPr>
                            <a:rPr lang="en-US" sz="255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5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5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f>
                                  <m:num>
                                    <m:r>
                                      <m:rPr>
                                        <m:sty m:val="p"/>
                                      </m:rPr>
                                      <a:rPr lang="en-US" sz="2550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1</m:t>
                                    </m:r>
                                  </m:num>
                                  <m:den>
                                    <m:r>
                                      <m:rPr>
                                        <m:sty m:val="p"/>
                                      </m:rPr>
                                      <a:rPr lang="en-US" sz="2550" i="0" b="0">
                                        <a:solidFill>
                                          <a:srgbClr val="196584"/>
                                        </a:solidFill>
                                        <a:latin typeface="Cambria Math"/>
                                      </a:rPr>
                                      <m:t xml:space="preserve">5</m:t>
                                    </m:r>
                                  </m:den>
                                </m:f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5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8A3DA89C-DEFC-4AF1-9B39-BA1E4DDC08E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3905250"/>
                <a:ext cx="7620000" cy="1762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5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A^{-1}=[1/5  0  0; 0  1  -1; 0  -2  3]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B124C5F6-2225-4DB8-BFEC-6B8B2437CA0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4  逆矩阵与矩阵方程</a:t>
            </a:r>
          </a:p>
        </p:txBody>
      </p:sp>
      <p:sp>
        <p:nvSpPr>
          <p:cNvPr id="2" name="textbook-locator">
            <a:extLst>
              <a:ext uri="{FF2B5EF4-FFF2-40B4-BE49-F238E27FC236}">
                <a16:creationId xmlns:a16="http://schemas.microsoft.com/office/drawing/2014/main" id="{BFCCB09C-B893-4667-BA2C-EBE54A9596D9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2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第3章 §1 例3，pp.64–65；第2章 §3 二，p.41</a:t>
            </a:r>
          </a:p>
        </p:txBody>
      </p:sp>
      <p:sp>
        <p:nvSpPr>
          <p:cNvPr id="4" name="content-1">
            <a:extLst>
              <a:ext uri="{FF2B5EF4-FFF2-40B4-BE49-F238E27FC236}">
                <a16:creationId xmlns:a16="http://schemas.microsoft.com/office/drawing/2014/main" id="{B314C662-8656-4F43-BA98-4A191855DDB9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提纲</a:t>
            </a:r>
          </a:p>
        </p:txBody>
      </p:sp>
      <p:sp>
        <p:nvSpPr>
          <p:cNvPr id="5" name="content-2">
            <a:extLst>
              <a:ext uri="{FF2B5EF4-FFF2-40B4-BE49-F238E27FC236}">
                <a16:creationId xmlns:a16="http://schemas.microsoft.com/office/drawing/2014/main" id="{4B090703-ED6D-4F72-A566-8D9382A6BCF8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4.1  从一个右端向量到多列右端项</a:t>
            </a:r>
          </a:p>
        </p:txBody>
      </p:sp>
      <p:sp>
        <p:nvSpPr>
          <p:cNvPr id="6" name="content-3">
            <a:extLst>
              <a:ext uri="{FF2B5EF4-FFF2-40B4-BE49-F238E27FC236}">
                <a16:creationId xmlns:a16="http://schemas.microsoft.com/office/drawing/2014/main" id="{BF83B0F6-9CDB-4108-B6E5-2595028308B8}"/>
              </a:ext>
            </a:extLst>
          </p:cNvPr>
          <p:cNvSpPr>
            <a:spLocks noGrp="1"/>
          </p:cNvSpPr>
          <p:nvPr/>
        </p:nvSpPr>
        <p:spPr>
          <a:xfrm>
            <a:off x="762000" y="3905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4.2  教材例3：同步求解</a:t>
            </a:r>
          </a:p>
        </p:txBody>
      </p:sp>
      <p:sp>
        <p:nvSpPr>
          <p:cNvPr id="7" name="content-4">
            <a:extLst>
              <a:ext uri="{FF2B5EF4-FFF2-40B4-BE49-F238E27FC236}">
                <a16:creationId xmlns:a16="http://schemas.microsoft.com/office/drawing/2014/main" id="{A73EC088-B443-4E98-902E-EAC1B2C65CE0}"/>
              </a:ext>
            </a:extLst>
          </p:cNvPr>
          <p:cNvSpPr>
            <a:spLocks noGrp="1"/>
          </p:cNvSpPr>
          <p:nvPr/>
        </p:nvSpPr>
        <p:spPr>
          <a:xfrm>
            <a:off x="762000" y="4857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4.3  左乘、右乘与双侧方程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A957AEAA-6503-4641-BB7C-B08C41025E18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4.1 矩阵方程 AX=B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3D79FB67-EFB4-4D48-AE02-D17AFDA04AA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矩阵的初等变换·例3及其后说明·pp.64–65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38BA5C56-C434-4D7B-8F51-24A1BA1AEADB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设 A 为 n 阶可逆矩阵，B 有 n 行。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1D334024-7D16-4715-9326-77B10EB490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X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⇔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X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1D334024-7D16-4715-9326-77B10EB4901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AX=B ⇔ X=A^{-1}B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8E83B938-79C3-4790-BEA3-4F77A1E619C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→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8E83B938-79C3-4790-BEA3-4F77A1E619C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(A，B) → (E，A^{-1}B)</a:t>
                </a:r>
              </a:p>
            </p:txBody>
          </p:sp>
        </mc:Fallback>
      </mc:AlternateContent>
      <p:sp>
        <p:nvSpPr>
          <p:cNvPr id="8" name="content-4">
            <a:extLst>
              <a:ext uri="{FF2B5EF4-FFF2-40B4-BE49-F238E27FC236}">
                <a16:creationId xmlns:a16="http://schemas.microsoft.com/office/drawing/2014/main" id="{1130B3B8-4E8F-449A-A0B6-B035A5382059}"/>
              </a:ext>
            </a:extLst>
          </p:cNvPr>
          <p:cNvSpPr>
            <a:spLocks noGrp="1"/>
          </p:cNvSpPr>
          <p:nvPr/>
        </p:nvSpPr>
        <p:spPr>
          <a:xfrm>
            <a:off x="762000" y="5143500"/>
            <a:ext cx="76200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把 B 当作一组右端项，同时求出多列解。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EC261A49-C720-44B7-85AC-8A2FFF0FCBFF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4.2 教材例3：矩阵方程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2D973F14-475E-4413-AA9B-535BB5DA0CE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矩阵的初等变换·例3·pp.64–65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A2D854CB-8074-4430-866C-3DF15E155D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bi"/>
                        </m:rPr>
                        <a:rPr lang="en-US" sz="217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17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A2D854CB-8074-4430-866C-3DF15E155DA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238375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A=[2  1  -3; 1  2  -2; -1  3  2]，B=[1  -1; 2  0; -2  5]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BBCE01B-70A5-41DC-837F-0F5FCD36193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57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X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EBBCE01B-70A5-41DC-837F-0F5FCD36193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857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AX=B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4394733E-E968-43AB-B12F-61259B0103EC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例3：同步化简（1）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3EA16915-0C0D-4EB2-AB2A-D5974114EDF3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矩阵的初等变换·例3·p.65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FB508781-75FC-40DC-BD8F-8B143A593E9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↔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FB508781-75FC-40DC-BD8F-8B143A593E9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r₁ ↔ r₂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0238FA76-A7E4-4BB1-8D68-23E29D0A822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0238FA76-A7E4-4BB1-8D68-23E29D0A822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[1  2  -2  2  0; 2  1  -3  1  -1; -1  3  2  -2  5]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037003B6-E60C-4852-8EC7-97CE70ACD65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037003B6-E60C-4852-8EC7-97CE70ACD65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r₂ ← r₂ − 2r₁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161B853F-372D-48D3-9CAF-321A4FF586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161B853F-372D-48D3-9CAF-321A4FF58655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[1  2  -2  2  0; 0  -3  1  -3  -1; -1  3  2  -2  5]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362F3722-98B3-49C1-A41D-69DB04351869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例3：同步化简（2）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1BB60AD2-44C6-42FD-A41D-FAFD29ED6FF8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矩阵的初等变换·例3·p.65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2108197A-B478-4057-83D3-C738918B119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2108197A-B478-4057-83D3-C738918B119B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r₃ ← r₃ + r₁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DB89A320-ECC9-4AD1-9681-7D4C5011E7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DB89A320-ECC9-4AD1-9681-7D4C5011E79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[1  2  -2  2  0; 0  -3  1  -3  -1; 0  5  0  0  5]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50BF788A-1035-4296-B0A9-645E4A88C9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5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50BF788A-1035-4296-B0A9-645E4A88C95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r₂ ← r₂ + (3/5)r₃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216BED4D-851F-42B9-AD95-21D114AC5C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5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5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216BED4D-851F-42B9-AD95-21D114AC5C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[1  2  -2  2  0; 0  0  1  -3  2; 0  5  0  0  5]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FEDD1846-DBAF-43C8-81A9-557FE864B9B5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例3：同步化简（3）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AA93C3A3-2636-44FE-A2EE-06F76CC965BB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矩阵的初等变换·例3·p.65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B53CB832-3717-402A-8503-D350928450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f>
                        <m:num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5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B53CB832-3717-402A-8503-D350928450F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r₃ ← (1/5)r₃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801754FC-847F-42DD-9158-41E192CBA34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801754FC-847F-42DD-9158-41E192CBA34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[1  2  -2  2  0; 0  0  1  -3  2; 0  1  0  0  1]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53B5AD97-853B-4A21-B73F-5B8907B6A5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↔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53B5AD97-853B-4A21-B73F-5B8907B6A59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r₂ ↔ r₃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095ABDEE-CEE2-4B35-B959-FADDEFFC739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095ABDEE-CEE2-4B35-B959-FADDEFFC739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[1  2  -2  2  0; 0  1  0  0  1; 0  0  1  -3  2]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E8478A53-276B-499A-B12E-148B9C5AEA06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例3：同步化简（4）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D98D275A-D236-4355-8D79-CC8712DDC541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矩阵的初等变换·例3·p.65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1F238D8E-DB5E-4940-B6AF-19ACE1F6BB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−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2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1F238D8E-DB5E-4940-B6AF-19ACE1F6BB63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19526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r₁ ← r₁ − 2r₂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0F956322-2398-473A-B4F6-3E9471E57C8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0F956322-2398-473A-B4F6-3E9471E57C89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4765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[1  0  -2  2  -2; 0  1  0  0  1; 0  0  1  -3  2]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CEF5E420-3BE5-407C-8542-BA542DD0893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←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+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19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2</m:t>
                      </m:r>
                      <m:sSub>
                        <m:e>
                          <m:r>
                            <m:rPr>
                              <m:sty m:val="i"/>
                            </m:rPr>
                            <a:rPr lang="en-US" sz="1950" i="1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r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95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3</m:t>
                          </m:r>
                        </m:sub>
                      </m:sSub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CEF5E420-3BE5-407C-8542-BA542DD08930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48125"/>
                <a:ext cx="7620000" cy="4286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19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r₁ ← r₁ + 2r₃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B55F941C-C39B-404A-9643-0BC2BF2E4B0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│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175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8" name="content-4">
                <a:extLst>
                  <a:ext uri="{FF2B5EF4-FFF2-40B4-BE49-F238E27FC236}">
                    <a16:creationId xmlns:a16="http://schemas.microsoft.com/office/drawing/2014/main" id="{B55F941C-C39B-404A-9643-0BC2BF2E4B08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572000"/>
                <a:ext cx="7620000" cy="1381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175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[1  0  0  -4  2; 0  1  0  0  1; 0  0  1  -3  2]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198063CB-897A-4C95-9AAD-78D7ABB6E94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例3：矩阵解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A3B68364-E7E1-488C-82C8-435EE0C1D09D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第3章§1 矩阵的初等变换·例3·p.65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32382918-1D43-4D88-B98B-2F89BE74A1A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333625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85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X</m:t>
                      </m:r>
                      <m:r>
                        <m:rPr>
                          <m:sty m:val="p"/>
                        </m:rPr>
                        <a:rPr lang="en-US" sz="285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d>
                        <m:dPr>
                          <m:begChr m:val="["/>
                          <m:endChr m:val="]"/>
                        </m:dPr>
                        <m:e>
                          <m:m>
                            <m:mPr>
                              <m:cGpRule m:val="3"/>
                              <m:cGp m:val="300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</m:mP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4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0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-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3</m:t>
                                </m:r>
                              </m:e>
                              <m:e>
                                <m:r>
                                  <m:rPr>
                                    <m:sty m:val="p"/>
                                  </m:rPr>
                                  <a:rPr lang="en-US" sz="2850" i="0" b="0">
                                    <a:solidFill>
                                      <a:srgbClr val="196584"/>
                                    </a:solidFill>
                                    <a:latin typeface="Cambria Math"/>
                                  </a:rPr>
                                  <m:t xml:space="preserve"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5" name="content-1">
                <a:extLst>
                  <a:ext uri="{FF2B5EF4-FFF2-40B4-BE49-F238E27FC236}">
                    <a16:creationId xmlns:a16="http://schemas.microsoft.com/office/drawing/2014/main" id="{32382918-1D43-4D88-B98B-2F89BE74A1A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333625"/>
                <a:ext cx="7620000" cy="1809750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85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X=[-4  2; 0  1; -3  2]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55698679-C003-4036-8DD8-A3007B6AA4B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00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X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55698679-C003-4036-8DD8-A3007B6AA4BD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000625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AX=B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55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cture-title">
            <a:extLst>
              <a:ext uri="{FF2B5EF4-FFF2-40B4-BE49-F238E27FC236}">
                <a16:creationId xmlns:a16="http://schemas.microsoft.com/office/drawing/2014/main" id="{CA8AD9F8-81C4-47A6-8586-E821820DBB40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657225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4.3 矩阵方程的求解顺序</a:t>
            </a:r>
          </a:p>
        </p:txBody>
      </p:sp>
      <p:sp>
        <p:nvSpPr>
          <p:cNvPr id="3" name="textbook-locator">
            <a:extLst>
              <a:ext uri="{FF2B5EF4-FFF2-40B4-BE49-F238E27FC236}">
                <a16:creationId xmlns:a16="http://schemas.microsoft.com/office/drawing/2014/main" id="{F0DEA5F0-96F6-4B8E-A9CC-BEEE66C50E2C}"/>
              </a:ext>
            </a:extLst>
          </p:cNvPr>
          <p:cNvSpPr>
            <a:spLocks noGrp="1"/>
          </p:cNvSpPr>
          <p:nvPr/>
        </p:nvSpPr>
        <p:spPr>
          <a:xfrm>
            <a:off x="714375" y="6315075"/>
            <a:ext cx="7096125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对应知识点：第2章§3 二、逆矩阵的初步应用·例13·p.41</a:t>
            </a:r>
          </a:p>
        </p:txBody>
      </p:sp>
      <p:sp>
        <p:nvSpPr>
          <p:cNvPr id="5" name="content-1">
            <a:extLst>
              <a:ext uri="{FF2B5EF4-FFF2-40B4-BE49-F238E27FC236}">
                <a16:creationId xmlns:a16="http://schemas.microsoft.com/office/drawing/2014/main" id="{D4BD08C6-EFF3-4212-921E-1BD0B1DA0AD3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矩阵乘法不交换，逆矩阵必须乘在正确一侧。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3B9DE348-15A6-4174-9067-9CC55F3C4DC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X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⇒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X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2">
                <a:extLst>
                  <a:ext uri="{FF2B5EF4-FFF2-40B4-BE49-F238E27FC236}">
                    <a16:creationId xmlns:a16="http://schemas.microsoft.com/office/drawing/2014/main" id="{3B9DE348-15A6-4174-9067-9CC55F3C4DCA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95275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XA=B ⇒ X=BA^{-1}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48E4FC53-7A02-4732-96EB-42FEC83296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X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B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⇒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X</m:t>
                      </m:r>
                      <m:r>
                        <m:rPr>
                          <m:sty m:val="p"/>
                        </m:rPr>
                        <a:rPr lang="en-US" sz="2400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bi"/>
                        </m:rPr>
                        <a:rPr lang="en-US" sz="2400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C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400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B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400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3">
                <a:extLst>
                  <a:ext uri="{FF2B5EF4-FFF2-40B4-BE49-F238E27FC236}">
                    <a16:creationId xmlns:a16="http://schemas.microsoft.com/office/drawing/2014/main" id="{48E4FC53-7A02-4732-96EB-42FEC832968F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000500"/>
                <a:ext cx="7620000" cy="71437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defPPr>
                <a:lvl1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1pPr>
                <a:lvl2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2pPr>
                <a:lvl3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3pPr>
                <a:lvl4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4pPr>
                <a:lvl5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5pPr>
                <a:lvl6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6pPr>
                <a:lvl7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7pPr>
                <a:lvl8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8pPr>
                <a:lvl9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lvl9pPr>
              </a:lstStyle>
              <a:p>
                <a:pPr algn="l">
                  <a:def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defRPr>
                </a:pPr>
                <a:r>
                  <a:rPr sz="2400" b="0">
                    <a:solidFill>
                      <a:srgbClr val="196584"/>
                    </a:solidFill>
                    <a:latin typeface="Cambria"/>
                    <a:ea typeface="Cambria"/>
                    <a:cs typeface="Cambria"/>
                  </a:rPr>
                  <a:t>AXB=C ⇒ X=A^{-1}CB^{-1}</a:t>
                </a:r>
              </a:p>
            </p:txBody>
          </p:sp>
        </mc:Fallback>
      </mc:AlternateContent>
      <p:sp>
        <p:nvSpPr>
          <p:cNvPr id="8" name="content-4">
            <a:extLst>
              <a:ext uri="{FF2B5EF4-FFF2-40B4-BE49-F238E27FC236}">
                <a16:creationId xmlns:a16="http://schemas.microsoft.com/office/drawing/2014/main" id="{8C422AAD-31CD-4137-AA35-F98531DEE905}"/>
              </a:ext>
            </a:extLst>
          </p:cNvPr>
          <p:cNvSpPr>
            <a:spLocks noGrp="1"/>
          </p:cNvSpPr>
          <p:nvPr/>
        </p:nvSpPr>
        <p:spPr>
          <a:xfrm>
            <a:off x="762000" y="5191125"/>
            <a:ext cx="762000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def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第一式要求 A 可逆；第二式要求 A、B 均可逆。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56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D9CE57D2-840A-40DF-A6F9-07645EA74D92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第二板块阶段小结</a:t>
            </a:r>
          </a:p>
        </p:txBody>
      </p:sp>
      <p:sp>
        <p:nvSpPr>
          <p:cNvPr id="3" name="content-1">
            <a:extLst>
              <a:ext uri="{FF2B5EF4-FFF2-40B4-BE49-F238E27FC236}">
                <a16:creationId xmlns:a16="http://schemas.microsoft.com/office/drawing/2014/main" id="{60DDF030-3344-4361-9753-F7BBF2C0A582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同步记录：从单位矩阵出发，记录同一串行操作。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-2">
                <a:extLst>
                  <a:ext uri="{FF2B5EF4-FFF2-40B4-BE49-F238E27FC236}">
                    <a16:creationId xmlns:a16="http://schemas.microsoft.com/office/drawing/2014/main" id="{92A30C1F-FB33-41A1-8EAD-B47D1B0575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→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P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=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F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4" name="content-2">
                <a:extLst>
                  <a:ext uri="{FF2B5EF4-FFF2-40B4-BE49-F238E27FC236}">
                    <a16:creationId xmlns:a16="http://schemas.microsoft.com/office/drawing/2014/main" id="{92A30C1F-FB33-41A1-8EAD-B47D1B0575B7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285750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(A，E) → (F，P)， PA=F</a:t>
                </a:r>
              </a:p>
            </p:txBody>
          </p:sp>
        </mc:Fallback>
      </mc:AlternateContent>
      <p:sp>
        <p:nvSpPr>
          <p:cNvPr id="5" name="content-3">
            <a:extLst>
              <a:ext uri="{FF2B5EF4-FFF2-40B4-BE49-F238E27FC236}">
                <a16:creationId xmlns:a16="http://schemas.microsoft.com/office/drawing/2014/main" id="{F07A012E-4BB9-46CE-B5BA-D28A3BB06AB3}"/>
              </a:ext>
            </a:extLst>
          </p:cNvPr>
          <p:cNvSpPr>
            <a:spLocks noGrp="1"/>
          </p:cNvSpPr>
          <p:nvPr/>
        </p:nvSpPr>
        <p:spPr>
          <a:xfrm>
            <a:off x="762000" y="38100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0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逆矩阵：双边乘积为单位阵；并非所有方阵都可逆。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ontent-4">
                <a:extLst>
                  <a:ext uri="{FF2B5EF4-FFF2-40B4-BE49-F238E27FC236}">
                    <a16:creationId xmlns:a16="http://schemas.microsoft.com/office/drawing/2014/main" id="{512C4A9D-B1E7-4AD9-9647-A90777B9020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可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逆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⇔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与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行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等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价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6" name="content-4">
                <a:extLst>
                  <a:ext uri="{FF2B5EF4-FFF2-40B4-BE49-F238E27FC236}">
                    <a16:creationId xmlns:a16="http://schemas.microsoft.com/office/drawing/2014/main" id="{512C4A9D-B1E7-4AD9-9647-A90777B9020C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4667250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A 可逆 ⇔ A 与 E 行等价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content-5">
                <a:extLst>
                  <a:ext uri="{FF2B5EF4-FFF2-40B4-BE49-F238E27FC236}">
                    <a16:creationId xmlns:a16="http://schemas.microsoft.com/office/drawing/2014/main" id="{78DCC15B-D70A-46B3-8D92-F89933DBC03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4768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 algn="l"/>
                <a14:m xmlns:m="http://schemas.openxmlformats.org/officeDocument/2006/math">
                  <m:oMathPara>
                    <m:oMathParaPr>
                      <m:jc m:val="left"/>
                    </m:oMathParaPr>
                    <m:oMath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A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→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 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(</m:t>
                      </m:r>
                      <m:r>
                        <m:rPr>
                          <m:sty m:val="bi"/>
                        </m:rPr>
                        <a:rPr lang="en-US" sz="2325" i="1" b="1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E</m:t>
                      </m:r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，</m:t>
                      </m:r>
                      <m:sSup>
                        <m:e>
                          <m:r>
                            <m:rPr>
                              <m:sty m:val="bi"/>
                            </m:rPr>
                            <a:rPr lang="en-US" sz="2325" i="1" b="1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A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25" i="0" b="0">
                              <a:solidFill>
                                <a:srgbClr val="196584"/>
                              </a:solidFill>
                              <a:latin typeface="Cambria Math"/>
                            </a:rPr>
                            <m:t xml:space="preserve">-1</m:t>
                          </m:r>
                        </m:sup>
                      </m:sSup>
                      <m:r>
                        <m:rPr>
                          <m:sty m:val="p"/>
                        </m:rPr>
                        <a:rPr lang="en-US" sz="2325" i="0" b="0">
                          <a:solidFill>
                            <a:srgbClr val="196584"/>
                          </a:solidFill>
                          <a:latin typeface="Cambria Math"/>
                        </a:rPr>
                        <m:t xml:space="preserve">)</m:t>
                      </m:r>
                    </m:oMath>
                  </m:oMathPara>
                </a14:m>
                <a:endParaRPr lang="en-US"/>
              </a:p>
            </p:txBody>
          </p:sp>
        </mc:Choice>
        <mc:Fallback>
          <p:sp>
            <p:nvSpPr>
              <p:cNvPr id="7" name="content-5">
                <a:extLst>
                  <a:ext uri="{FF2B5EF4-FFF2-40B4-BE49-F238E27FC236}">
                    <a16:creationId xmlns:a16="http://schemas.microsoft.com/office/drawing/2014/main" id="{78DCC15B-D70A-46B3-8D92-F89933DBC032}"/>
                  </a:ext>
                </a:extLst>
              </p:cNvPr>
              <p:cNvSpPr>
                <a:spLocks noGrp="1"/>
              </p:cNvSpPr>
              <p:nvPr/>
            </p:nvSpPr>
            <p:spPr>
              <a:xfrm>
                <a:off x="762000" y="5476875"/>
                <a:ext cx="7620000" cy="619125"/>
              </a:xfrm>
              <a:prstGeom prst="rect">
                <a:avLst/>
              </a:prstGeom>
              <a:noFill/>
              <a:ln w="0">
                <a:noFill/>
              </a:ln>
            </p:spPr>
            <p:txBody>
              <a:bodyPr wrap="square" lIns="0" tIns="0" rIns="0" bIns="0" anchor="ctr">
                <a:noAutofit/>
              </a:bodyPr>
              <a:lstStyle>
                <a:def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defPPr>
                <a:lvl1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1pPr>
                <a:lvl2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2pPr>
                <a:lvl3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3pPr>
                <a:lvl4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4pPr>
                <a:lvl5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5pPr>
                <a:lvl6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6pPr>
                <a:lvl7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7pPr>
                <a:lvl8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8pPr>
                <a:lvl9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lvl9pPr>
              </a:lstStyle>
              <a:p>
                <a:pPr>
                  <a:def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defRPr>
                </a:pPr>
                <a:r>
                  <a:rPr sz="2325">
                    <a:solidFill>
                      <a:srgbClr val="196584"/>
                    </a:solidFill>
                    <a:latin typeface="Cambria Math"/>
                    <a:ea typeface="Cambria Math"/>
                    <a:cs typeface="Cambria Math"/>
                  </a:rPr>
                  <a:t>(A，E) → (E，A^{-1})</a:t>
                </a:r>
              </a:p>
            </p:txBody>
          </p:sp>
        </mc:Fallback>
      </mc:AlternateContent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57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lecture-title">
            <a:extLst>
              <a:ext uri="{FF2B5EF4-FFF2-40B4-BE49-F238E27FC236}">
                <a16:creationId xmlns:a16="http://schemas.microsoft.com/office/drawing/2014/main" id="{31E4BEA3-BFA2-459D-B27C-4B5137AE148B}"/>
              </a:ext>
            </a:extLst>
          </p:cNvPr>
          <p:cNvSpPr>
            <a:spLocks noGrp="1"/>
          </p:cNvSpPr>
          <p:nvPr/>
        </p:nvSpPr>
        <p:spPr>
          <a:xfrm>
            <a:off x="685800" y="542925"/>
            <a:ext cx="7429500" cy="1047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360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课后学习</a:t>
            </a:r>
          </a:p>
        </p:txBody>
      </p:sp>
      <p:sp>
        <p:nvSpPr>
          <p:cNvPr id="3" name="content-1">
            <a:extLst>
              <a:ext uri="{FF2B5EF4-FFF2-40B4-BE49-F238E27FC236}">
                <a16:creationId xmlns:a16="http://schemas.microsoft.com/office/drawing/2014/main" id="{59619821-3B93-4E12-8937-A87078ED3B88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17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第1次作业：矩阵运算与初等变换</a:t>
            </a:r>
          </a:p>
        </p:txBody>
      </p:sp>
      <p:sp>
        <p:nvSpPr>
          <p:cNvPr id="4" name="content-2">
            <a:extLst>
              <a:ext uri="{FF2B5EF4-FFF2-40B4-BE49-F238E27FC236}">
                <a16:creationId xmlns:a16="http://schemas.microsoft.com/office/drawing/2014/main" id="{13EAACB4-E582-4B5C-BDC0-C28CB9E796B5}"/>
              </a:ext>
            </a:extLst>
          </p:cNvPr>
          <p:cNvSpPr>
            <a:spLocks noGrp="1"/>
          </p:cNvSpPr>
          <p:nvPr/>
        </p:nvSpPr>
        <p:spPr>
          <a:xfrm>
            <a:off x="762000" y="280987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2325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截止：11月4日 19:00</a:t>
            </a:r>
          </a:p>
        </p:txBody>
      </p:sp>
      <p:sp>
        <p:nvSpPr>
          <p:cNvPr id="5" name="content-3">
            <a:extLst>
              <a:ext uri="{FF2B5EF4-FFF2-40B4-BE49-F238E27FC236}">
                <a16:creationId xmlns:a16="http://schemas.microsoft.com/office/drawing/2014/main" id="{CD7C7394-7774-4983-8BCC-423BCB1CD180}"/>
              </a:ext>
            </a:extLst>
          </p:cNvPr>
          <p:cNvSpPr>
            <a:spLocks noGrp="1"/>
          </p:cNvSpPr>
          <p:nvPr/>
        </p:nvSpPr>
        <p:spPr>
          <a:xfrm>
            <a:off x="762000" y="371475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第1次翻转答疑：截止时须已有成绩，可继续练习提分。</a:t>
            </a:r>
          </a:p>
        </p:txBody>
      </p:sp>
      <p:sp>
        <p:nvSpPr>
          <p:cNvPr id="6" name="content-4">
            <a:extLst>
              <a:ext uri="{FF2B5EF4-FFF2-40B4-BE49-F238E27FC236}">
                <a16:creationId xmlns:a16="http://schemas.microsoft.com/office/drawing/2014/main" id="{012F641C-3EC0-47A5-96A2-247E3164FFCF}"/>
              </a:ext>
            </a:extLst>
          </p:cNvPr>
          <p:cNvSpPr>
            <a:spLocks noGrp="1"/>
          </p:cNvSpPr>
          <p:nvPr/>
        </p:nvSpPr>
        <p:spPr>
          <a:xfrm>
            <a:off x="762000" y="4619625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练习建议：教材第3章 §1 例2、例3，独立重算并验算。</a:t>
            </a:r>
          </a:p>
        </p:txBody>
      </p:sp>
      <p:sp>
        <p:nvSpPr>
          <p:cNvPr id="7" name="content-5">
            <a:extLst>
              <a:ext uri="{FF2B5EF4-FFF2-40B4-BE49-F238E27FC236}">
                <a16:creationId xmlns:a16="http://schemas.microsoft.com/office/drawing/2014/main" id="{25A5D870-F698-41A6-ACF8-8026AB8865FA}"/>
              </a:ext>
            </a:extLst>
          </p:cNvPr>
          <p:cNvSpPr>
            <a:spLocks noGrp="1"/>
          </p:cNvSpPr>
          <p:nvPr/>
        </p:nvSpPr>
        <p:spPr>
          <a:xfrm>
            <a:off x="762000" y="5524500"/>
            <a:ext cx="76200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defRPr>
            </a:pPr>
            <a:r>
              <a:rPr sz="1950">
                <a:solidFill>
                  <a:srgbClr val="151515"/>
                </a:solidFill>
                <a:latin typeface="微软雅黑"/>
                <a:ea typeface="微软雅黑"/>
                <a:cs typeface="微软雅黑"/>
              </a:rPr>
              <a:t>下讲：逆矩阵应用的补充；矩阵的秩与线性方程组。</a:t>
            </a:r>
          </a:p>
        </p:txBody>
      </p:sp>
      <p:sp>
        <p:nvSpPr>
          <p:cNvPr id="9900" name="page-number">
            <a:extLst>
              <a:ext uri="{FF2B5EF4-FFF2-40B4-BE49-F238E27FC236}">
                <a16:creationId xmlns:a16="http://schemas.microsoft.com/office/drawing/2014/main" id="{7B18ED5B-3396-4E64-B5BA-46D6FF0E80DB}"/>
              </a:ext>
            </a:extLst>
          </p:cNvPr>
          <p:cNvSpPr>
            <a:spLocks noGrp="1"/>
          </p:cNvSpPr>
          <p:nvPr/>
        </p:nvSpPr>
        <p:spPr>
          <a:xfrm>
            <a:off x="7858125" y="6381750"/>
            <a:ext cx="571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defPPr>
            <a:lvl1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1pPr>
            <a:lvl2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2pPr>
            <a:lvl3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3pPr>
            <a:lvl4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4pPr>
            <a:lvl5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5pPr>
            <a:lvl6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6pPr>
            <a:lvl7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7pPr>
            <a:lvl8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8pPr>
            <a:lvl9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r">
              <a:def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4D5961"/>
                </a:solidFill>
                <a:latin typeface="微软雅黑"/>
                <a:ea typeface="微软雅黑"/>
                <a:cs typeface="微软雅黑"/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914649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mbria">
      <a:maj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7114</Words>
  <Application>Microsoft Macintosh PowerPoint</Application>
  <DocSecurity>0</DocSecurity>
  <PresentationFormat>On-screen Show (4:3)</PresentationFormat>
  <Paragraphs>789</Paragraphs>
  <Slides>58</Slides>
  <Notes>79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4" baseType="lpstr">
      <vt:lpstr>微软雅黑</vt:lpstr>
      <vt:lpstr>Arial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Quan Guo</cp:lastModifiedBy>
  <cp:revision>1</cp:revision>
  <dcterms:created xsi:type="dcterms:W3CDTF">2026-10-18T20:11:28Z</dcterms:created>
  <dcterms:modified xsi:type="dcterms:W3CDTF">2026-10-20T17:54:59Z</dcterms:modified>
</cp:coreProperties>
</file>