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501.xml" ContentType="application/vnd.openxmlformats-officedocument.presentationml.slide+xml"/>
  <Override PartName="/ppt/slides/slide502.xml" ContentType="application/vnd.openxmlformats-officedocument.presentationml.slide+xml"/>
  <Override PartName="/ppt/slides/slide503.xml" ContentType="application/vnd.openxmlformats-officedocument.presentationml.slide+xml"/>
  <Override PartName="/ppt/slides/slide504.xml" ContentType="application/vnd.openxmlformats-officedocument.presentationml.slide+xml"/>
  <Override PartName="/ppt/slides/slide505.xml" ContentType="application/vnd.openxmlformats-officedocument.presentationml.slide+xml"/>
  <Override PartName="/ppt/slides/slide506.xml" ContentType="application/vnd.openxmlformats-officedocument.presentationml.slide+xml"/>
  <Override PartName="/ppt/slides/slide507.xml" ContentType="application/vnd.openxmlformats-officedocument.presentationml.slide+xml"/>
  <Override PartName="/ppt/slides/slide508.xml" ContentType="application/vnd.openxmlformats-officedocument.presentationml.slide+xml"/>
  <Override PartName="/ppt/slides/slide509.xml" ContentType="application/vnd.openxmlformats-officedocument.presentationml.slide+xml"/>
  <Override PartName="/ppt/slides/slide510.xml" ContentType="application/vnd.openxmlformats-officedocument.presentationml.slide+xml"/>
  <Override PartName="/ppt/slides/slide511.xml" ContentType="application/vnd.openxmlformats-officedocument.presentationml.slide+xml"/>
  <Override PartName="/ppt/slides/slide512.xml" ContentType="application/vnd.openxmlformats-officedocument.presentationml.slide+xml"/>
  <Override PartName="/ppt/slides/slide513.xml" ContentType="application/vnd.openxmlformats-officedocument.presentationml.slide+xml"/>
  <Override PartName="/ppt/slides/slide514.xml" ContentType="application/vnd.openxmlformats-officedocument.presentationml.slide+xml"/>
  <Override PartName="/ppt/slides/slide515.xml" ContentType="application/vnd.openxmlformats-officedocument.presentationml.slide+xml"/>
  <Override PartName="/ppt/slides/slide516.xml" ContentType="application/vnd.openxmlformats-officedocument.presentationml.slide+xml"/>
  <Override PartName="/ppt/slides/slide517.xml" ContentType="application/vnd.openxmlformats-officedocument.presentationml.slide+xml"/>
  <Override PartName="/ppt/slides/slide518.xml" ContentType="application/vnd.openxmlformats-officedocument.presentationml.slide+xml"/>
  <Override PartName="/ppt/slides/slide519.xml" ContentType="application/vnd.openxmlformats-officedocument.presentationml.slide+xml"/>
  <Override PartName="/ppt/slides/slide520.xml" ContentType="application/vnd.openxmlformats-officedocument.presentationml.slide+xml"/>
  <Override PartName="/ppt/slides/slide521.xml" ContentType="application/vnd.openxmlformats-officedocument.presentationml.slide+xml"/>
  <Override PartName="/ppt/slides/slide522.xml" ContentType="application/vnd.openxmlformats-officedocument.presentationml.slide+xml"/>
  <Override PartName="/ppt/slides/slide523.xml" ContentType="application/vnd.openxmlformats-officedocument.presentationml.slide+xml"/>
  <Override PartName="/ppt/slides/slide524.xml" ContentType="application/vnd.openxmlformats-officedocument.presentationml.slide+xml"/>
  <Override PartName="/ppt/slides/slide525.xml" ContentType="application/vnd.openxmlformats-officedocument.presentationml.slide+xml"/>
  <Override PartName="/ppt/slides/slide52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801" r:id="rIdV5_1"/>
    <p:sldId id="802" r:id="rIdV5_2"/>
    <p:sldId id="803" r:id="rIdV5_3"/>
    <p:sldId id="804" r:id="rIdV5_4"/>
    <p:sldId id="805" r:id="rIdV5_5"/>
    <p:sldId id="806" r:id="rIdV5_6"/>
    <p:sldId id="807" r:id="rIdV5_7"/>
    <p:sldId id="808" r:id="rIdV5_8"/>
    <p:sldId id="809" r:id="rIdV5_9"/>
    <p:sldId id="810" r:id="rIdV5_10"/>
    <p:sldId id="811" r:id="rIdV5_11"/>
    <p:sldId id="812" r:id="rIdV5_12"/>
    <p:sldId id="813" r:id="rIdV5_13"/>
    <p:sldId id="814" r:id="rIdV5_14"/>
    <p:sldId id="815" r:id="rIdV5_15"/>
    <p:sldId id="816" r:id="rIdV5_16"/>
    <p:sldId id="817" r:id="rIdV5_17"/>
    <p:sldId id="818" r:id="rIdV5_18"/>
    <p:sldId id="819" r:id="rIdV5_19"/>
    <p:sldId id="820" r:id="rIdV5_20"/>
    <p:sldId id="821" r:id="rIdV5_21"/>
    <p:sldId id="822" r:id="rIdV5_22"/>
    <p:sldId id="823" r:id="rIdV5_23"/>
    <p:sldId id="824" r:id="rIdV5_24"/>
    <p:sldId id="825" r:id="rIdV5_25"/>
    <p:sldId id="826" r:id="rIdV5_26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58"/>
  </p:normalViewPr>
  <p:slideViewPr>
    <p:cSldViewPr snapToGrid="0">
      <p:cViewPr>
        <p:scale>
          <a:sx n="81" d="100"/>
          <a:sy n="81" d="100"/>
        </p:scale>
        <p:origin x="16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82" Type="http://schemas.openxmlformats.org/officeDocument/2006/relationships/presProps" Target="presProps.xml"/><Relationship Id="rIdV5_1" Type="http://schemas.openxmlformats.org/officeDocument/2006/relationships/slide" Target="slides/slide501.xml"/><Relationship Id="rIdV5_2" Type="http://schemas.openxmlformats.org/officeDocument/2006/relationships/slide" Target="slides/slide502.xml"/><Relationship Id="rIdV5_3" Type="http://schemas.openxmlformats.org/officeDocument/2006/relationships/slide" Target="slides/slide503.xml"/><Relationship Id="rIdV5_4" Type="http://schemas.openxmlformats.org/officeDocument/2006/relationships/slide" Target="slides/slide504.xml"/><Relationship Id="rIdV5_5" Type="http://schemas.openxmlformats.org/officeDocument/2006/relationships/slide" Target="slides/slide505.xml"/><Relationship Id="rIdV5_6" Type="http://schemas.openxmlformats.org/officeDocument/2006/relationships/slide" Target="slides/slide506.xml"/><Relationship Id="rIdV5_7" Type="http://schemas.openxmlformats.org/officeDocument/2006/relationships/slide" Target="slides/slide507.xml"/><Relationship Id="rIdV5_8" Type="http://schemas.openxmlformats.org/officeDocument/2006/relationships/slide" Target="slides/slide508.xml"/><Relationship Id="rIdV5_9" Type="http://schemas.openxmlformats.org/officeDocument/2006/relationships/slide" Target="slides/slide509.xml"/><Relationship Id="rIdV5_10" Type="http://schemas.openxmlformats.org/officeDocument/2006/relationships/slide" Target="slides/slide510.xml"/><Relationship Id="rIdV5_11" Type="http://schemas.openxmlformats.org/officeDocument/2006/relationships/slide" Target="slides/slide511.xml"/><Relationship Id="rIdV5_12" Type="http://schemas.openxmlformats.org/officeDocument/2006/relationships/slide" Target="slides/slide512.xml"/><Relationship Id="rIdV5_13" Type="http://schemas.openxmlformats.org/officeDocument/2006/relationships/slide" Target="slides/slide513.xml"/><Relationship Id="rIdV5_14" Type="http://schemas.openxmlformats.org/officeDocument/2006/relationships/slide" Target="slides/slide514.xml"/><Relationship Id="rIdV5_15" Type="http://schemas.openxmlformats.org/officeDocument/2006/relationships/slide" Target="slides/slide515.xml"/><Relationship Id="rIdV5_16" Type="http://schemas.openxmlformats.org/officeDocument/2006/relationships/slide" Target="slides/slide516.xml"/><Relationship Id="rIdV5_17" Type="http://schemas.openxmlformats.org/officeDocument/2006/relationships/slide" Target="slides/slide517.xml"/><Relationship Id="rIdV5_18" Type="http://schemas.openxmlformats.org/officeDocument/2006/relationships/slide" Target="slides/slide518.xml"/><Relationship Id="rIdV5_19" Type="http://schemas.openxmlformats.org/officeDocument/2006/relationships/slide" Target="slides/slide519.xml"/><Relationship Id="rIdV5_20" Type="http://schemas.openxmlformats.org/officeDocument/2006/relationships/slide" Target="slides/slide520.xml"/><Relationship Id="rIdV5_21" Type="http://schemas.openxmlformats.org/officeDocument/2006/relationships/slide" Target="slides/slide521.xml"/><Relationship Id="rIdV5_22" Type="http://schemas.openxmlformats.org/officeDocument/2006/relationships/slide" Target="slides/slide522.xml"/><Relationship Id="rIdV5_23" Type="http://schemas.openxmlformats.org/officeDocument/2006/relationships/slide" Target="slides/slide523.xml"/><Relationship Id="rIdV5_24" Type="http://schemas.openxmlformats.org/officeDocument/2006/relationships/slide" Target="slides/slide524.xml"/><Relationship Id="rIdV5_25" Type="http://schemas.openxmlformats.org/officeDocument/2006/relationships/slide" Target="slides/slide525.xml"/><Relationship Id="rIdV5_26" Type="http://schemas.openxmlformats.org/officeDocument/2006/relationships/slide" Target="slides/slide526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0BE-174A-4444-A1D2-6B4676EA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84941"/>
            <a:ext cx="7772400" cy="182502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985B-0CCA-455C-BF14-2CCC419CC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D788-F81B-427A-B704-315256F93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BFB90-40F0-924A-AC90-AF06BE2CE8BC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5264-D824-4A11-AB0F-4B117F1A8C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D79F-4263-4B93-B636-3EA0CB9F2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8D73F-BEC3-4DFE-AC02-8DDE8BB5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367"/>
            <a:ext cx="3847548" cy="953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（半透明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减扰白底（母版版式）"/>
          <p:cNvSpPr>
            <a:spLocks noGrp="1"/>
          </p:cNvSpPr>
          <p:nvPr/>
        </p:nvSpPr>
        <p:spPr>
          <a:xfrm>
            <a:off x="0" y="1695450"/>
            <a:ext cx="9144000" cy="5162550"/>
          </a:xfrm>
          <a:prstGeom prst="rect">
            <a:avLst/>
          </a:prstGeom>
          <a:gradFill>
            <a:gsLst>
              <a:gs pos="15000">
                <a:srgbClr val="F2F9FD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84786"/>
                </a:scheme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EBAF-4A63-4E7A-AE06-96E3976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9586-1E2F-4BCA-AD28-02E9CF10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CCE6-9DC6-448B-92AA-D611E039B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A53830-170D-A84E-A17B-BDF67C5F6563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2768-F1A1-40E3-A79F-5229A391D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15FB-6154-412C-958C-FDC550049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7D1E-53A9-45A0-8A83-F2D86784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948F-CC85-437A-8199-50EE41A2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130C-8604-4D3F-8349-388B34188F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798FA-818A-5041-9AF9-D7A661FB786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92D1-2FB8-4124-8472-A76C10DBD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727E-2839-4F44-B26C-3F1806E59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A516-6730-4419-B041-EC65EA8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2EC8-17C4-410B-9B14-5FC579CA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7227D-F697-4914-9F59-06E9ACAFF0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C4D-74E6-4AD6-B832-9AFBE466F3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00264-D2BC-1F4C-97D3-C434A8A51AD5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E649-3ECE-410D-B652-E2E5EFCB7B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BDE7-EE05-46C7-9941-424B0E1F4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0D01-4CE9-4376-92FD-27BEEB93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1A04-57FE-408F-973E-E6F5617A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210E-878D-4337-A352-7CB530ECE9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DD54C-0AB3-4029-9C4D-E2C776B881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4DF19-4C74-4EAC-80F5-C1171181AA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8697-23F9-4690-A87C-86CA83F76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B65A6B-2C1F-314A-ABFA-F6E149FDACC1}" type="datetime1">
              <a:t>10/21/26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992C7-53A7-4983-8384-0BFBED197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EDB30-441E-46C5-85F1-B4A4CC58E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7CF-42FF-45AF-B031-644A0E1E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8DA2D-E805-4EC3-8E48-BEBD215A3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B69489-80A7-E142-84FC-5F37A74E03FE}" type="datetime1">
              <a:t>10/21/26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3FD67-9CBE-4853-9503-9713CC3C8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B1FF-09BB-4D6C-A03A-3A91FE8F2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8527E-CF81-462C-86A5-4E6F363EE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D48C6-D631-5043-9650-9710DA63924F}" type="datetime1">
              <a:t>10/21/26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78A0-BB33-4408-B015-FBF9E7D58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85B9E-76C6-4E42-870F-66220576A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AED-0A3E-47A3-8166-BDAE4E2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C949-F472-47A2-88DF-7EE5CFC4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FFA4-4461-47DC-83B8-E9DCF74739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AC7-C398-4FED-BC4F-0A8D21E1B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6B9322-A133-3A4F-A144-D2BA2167143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E35-CB1B-4D42-9146-13DABFC785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8F4F-B79D-4DBE-A87E-DCA07CB78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1DD9-75D2-40E1-91D1-3EDC100C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492D-87D9-4669-885C-07D18DBC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781D-2E86-4255-8387-99B169C31E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F7A66-58F3-43F5-AE00-7E82C1584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5EDC21-2EB8-B340-92B6-C360835AC0C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3AFC-C712-4837-AD54-AFC1DEFFB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9DD3-1B74-44F4-8B8C-2C5A2E20C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39B-E435-4715-8202-C764FD18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B58AE-86E0-47D2-9F2A-65DC9576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988A-562F-4E6A-BE40-C4E609062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4311C6-E5C3-7846-9807-1FFF2C76B42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DD06-2D10-4108-95C8-A6312AFB5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A910-9D15-437E-8F0B-AA7CEFCF2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3EF0-0F81-407C-A21D-614F8238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1535-0DF9-49FD-949B-456C5947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584C-0209-4958-B8C6-B8E9FE2916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BE1744-1A22-8E44-A05A-52D3A976BAC8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0C8B-D348-41EF-9217-54AF219A6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E1EC-4B30-46DF-A550-CA2D0A01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1E980-7B3F-4648-BD7A-E5A7FEB4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A54C-2780-4DC3-9BD1-D2F7A23C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F01-EA00-42B2-ADA1-35D4B436A13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49F90-9EE0-244F-825B-BDF874172E77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84BC-FA77-46EC-94D6-B13C6ADB7E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D11-F4BA-4929-99F9-7FD08BE64C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08E29-1248-4CB3-99E2-D7E5CCAB89D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740" t="39500" r="24740" b="24740"/>
          <a:stretch/>
        </p:blipFill>
        <p:spPr>
          <a:xfrm>
            <a:off x="7186274" y="359380"/>
            <a:ext cx="1329076" cy="1331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501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1.xml"/></Relationships>
</file>

<file path=ppt/slides/_rels/slide502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3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4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5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6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7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8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09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0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1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2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3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4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5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6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7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8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19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0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1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2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3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4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5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_rels/slide526.xml.rels><?xml version='1.0' encoding='UTF-8' standalone='yes'?>
<Relationships xmlns="http://schemas.openxmlformats.org/package/2006/relationships"><Relationship Id="rIdLayoutV5" Type="http://schemas.openxmlformats.org/officeDocument/2006/relationships/slideLayout" Target="../slideLayouts/slideLayout2.xml"/></Relationships>
</file>

<file path=ppt/slides/slide5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1E1B5BFC-0703-4AC9-BCD8-E89AE37A83C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线性代数</a:t>
            </a:r>
          </a:p>
        </p:txBody>
      </p:sp>
      <p:sp>
        <p:nvSpPr>
          <p:cNvPr id="2" name="cover-english">
            <a:extLst>
              <a:ext uri="{FF2B5EF4-FFF2-40B4-BE49-F238E27FC236}">
                <a16:creationId xmlns:a16="http://schemas.microsoft.com/office/drawing/2014/main" id="{0D64F192-F423-4F9B-AA66-16239765F2C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7429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51515"/>
                </a:solidFill>
                <a:latin typeface="Cambria"/>
                <a:ea typeface="Cambria"/>
                <a:cs typeface="Cambria"/>
              </a:rPr>
              <a:t>Linear Algebra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C9BA460-F825-401E-B06C-B8C44738A44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第五讲 · 逆矩阵</a:t>
            </a:r>
          </a:p>
        </p:txBody>
      </p:sp>
      <p:sp>
        <p:nvSpPr>
          <p:cNvPr id="4" name="cover-class">
            <a:extLst>
              <a:ext uri="{FF2B5EF4-FFF2-40B4-BE49-F238E27FC236}">
                <a16:creationId xmlns:a16="http://schemas.microsoft.com/office/drawing/2014/main" id="{7F034925-B041-4B65-97AB-6019A3DE672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人工智能学院 · 26计科03班、04班</a:t>
            </a:r>
          </a:p>
        </p:txBody>
      </p:sp>
      <p:sp>
        <p:nvSpPr>
          <p:cNvPr id="5" name="cover-lecturer">
            <a:extLst>
              <a:ext uri="{FF2B5EF4-FFF2-40B4-BE49-F238E27FC236}">
                <a16:creationId xmlns:a16="http://schemas.microsoft.com/office/drawing/2014/main" id="{CFE0E8B3-0066-4A58-A1A3-11D171CB92B1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主讲：郭泉</a:t>
            </a:r>
          </a:p>
        </p:txBody>
      </p:sp>
    </p:spTree>
    <p:extLst>
      <p:ext uri="{BB962C8B-B14F-4D97-AF65-F5344CB8AC3E}">
        <p14:creationId xmlns:p14="http://schemas.microsoft.com/office/powerpoint/2010/main" val="953044617"/>
      </p:ext>
    </p:extLst>
  </p:cSld>
  <p:clrMapOvr>
    <a:masterClrMapping/>
  </p:clrMapOvr>
</p:sld>
</file>

<file path=ppt/slides/slide5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8FA459F3-D05C-43F6-9772-0AF25057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4" name="content-1">
            <a:extLst xmlns:a="http://schemas.openxmlformats.org/drawingml/2006/main">
              <a:ext uri="{FF2B5EF4-FFF2-40B4-BE49-F238E27FC236}">
                <a16:creationId xmlns:a16="http://schemas.microsoft.com/office/drawing/2014/main" id="{7D0CA744-CE4A-4A52-95F7-63C0B7BD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逆矩阵的定义与运算规律</a:t>
            </a:r>
          </a:p>
        </p:txBody>
      </p:sp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BACFC51C-93CD-4518-8BBA-BD266B64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初等矩阵与可逆性的判定</a:t>
            </a:r>
          </a:p>
        </p:txBody>
      </p:sp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992257"/>
      </p:ext>
    </p:extLst>
  </p:cSld>
</p:sld>
</file>

<file path=ppt/slides/slide5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CE544880-B4B1-48F8-BEF9-F8DB0EF9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同一矩阵与不同右端项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CAC9CEF0-D239-4D74-932D-F86CF406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一、逆矩阵的定义、性质和求法，pp.39–40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124B3F70-DE1E-49B2-B976-E426EFADC1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124B3F70-DE1E-49B2-B976-E426EFADC1B5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C=[2  -1; -1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0687FE31-0D24-417E-94AC-0AD59EF9A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8612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0687FE31-0D24-417E-94AC-0AD59EF9A5A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28612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AC=E</a:t>
                </a:r>
              </a:p>
            </p:txBody>
          </p:sp>
        </mc:Fallback>
      </mc:AlternateContent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F99FF985-2911-4C19-BE30-0351F355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右端项改变，能否继续用同一个C求解？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F0B76278-CC01-4BA4-A1E1-3866782E03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67250"/>
                <a:ext cx="28575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F0B76278-CC01-4BA4-A1E1-3866782E039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67250"/>
                <a:ext cx="28575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b=[3; 4]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 xmlns:a="http://schemas.openxmlformats.org/drawingml/2006/main">
                  <a:ext uri="{FF2B5EF4-FFF2-40B4-BE49-F238E27FC236}">
                    <a16:creationId xmlns:a16="http://schemas.microsoft.com/office/drawing/2014/main" id="{B98A226C-4F5A-44B6-8755-8EE49FEBE50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00500" y="4667250"/>
                <a:ext cx="381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 xmlns:a="http://schemas.openxmlformats.org/drawingml/2006/main">
                  <a:ext uri="{FF2B5EF4-FFF2-40B4-BE49-F238E27FC236}">
                    <a16:creationId xmlns:a16="http://schemas.microsoft.com/office/drawing/2014/main" id="{B98A226C-4F5A-44B6-8755-8EE49FEBE50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4000500" y="4667250"/>
                <a:ext cx="3810000" cy="95250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Cb=[2;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ontent-6">
                <a:extLst xmlns:a="http://schemas.openxmlformats.org/drawingml/2006/main">
                  <a:ext uri="{FF2B5EF4-FFF2-40B4-BE49-F238E27FC236}">
                    <a16:creationId xmlns:a16="http://schemas.microsoft.com/office/drawing/2014/main" id="{0A3C691D-3A8B-44C0-A1B7-D35056DBC5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810250"/>
                <a:ext cx="76200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9" name="content-6">
                <a:extLst xmlns:a="http://schemas.openxmlformats.org/drawingml/2006/main">
                  <a:ext uri="{FF2B5EF4-FFF2-40B4-BE49-F238E27FC236}">
                    <a16:creationId xmlns:a16="http://schemas.microsoft.com/office/drawing/2014/main" id="{0A3C691D-3A8B-44C0-A1B7-D35056DBC51D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810250"/>
                <a:ext cx="7620000" cy="428625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A(Cb)=(AC)b=b</a:t>
                </a:r>
              </a:p>
            </p:txBody>
          </p:sp>
        </mc:Fallback>
      </mc:AlternateContent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43443836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5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6B600DA5-0EE9-44B8-AED7-DA88A489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逆变换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D1BA4BDE-A180-4816-9DF3-E35A5862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一、逆矩阵的定义、性质和求法，pp.39–40</a:t>
            </a:r>
          </a:p>
        </p:txBody>
      </p:sp>
      <p:sp>
        <p:nvSpPr>
          <p:cNvPr id="4" name="content-1">
            <a:extLst xmlns:a="http://schemas.openxmlformats.org/drawingml/2006/main">
              <a:ext uri="{FF2B5EF4-FFF2-40B4-BE49-F238E27FC236}">
                <a16:creationId xmlns:a16="http://schemas.microsoft.com/office/drawing/2014/main" id="{910060D8-4AD8-4EF2-BAEE-253605D2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矩阵A把原坐标变为新坐标。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1D6595B6-E6DC-4BD7-ABD0-FCDC31168C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62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1D6595B6-E6DC-4BD7-ABD0-FCDC31168C1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762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A[2; 1]=[3; 4]</a:t>
                </a:r>
              </a:p>
            </p:txBody>
          </p:sp>
        </mc:Fallback>
      </mc:AlternateContent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5581A3BB-3FA5-4CE9-ABA7-0FBE4507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用C能否恢复整个平面中的每一个点？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6D690B4D-686E-4E6E-88F2-D88B471A12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95300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6D690B4D-686E-4E6E-88F2-D88B471A1273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95300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C[3; 4]=[2; 1]</a:t>
                </a:r>
              </a:p>
            </p:txBody>
          </p:sp>
        </mc:Fallback>
      </mc:AlternateContent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50847540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8F45334-3F8C-4C99-8490-A3B3051FCBC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逆矩阵的定义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2672AB9-0B57-4F34-B964-415FA4EB5FE0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一、逆矩阵的定义、性质和求法·定义7·p.39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C674FCDF-8445-4217-A003-0414C84A715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 A 为 n 阶方阵。若存在 n 阶矩阵 B，使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17AFE54-E6BA-4982-B945-59364AC220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17AFE54-E6BA-4982-B945-59364AC220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AB=BA=E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D6738BB0-7E46-4146-A7DC-BA649FA69277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则称 A 可逆，B 称为 A 的逆矩阵，记为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2E225E4-1378-454F-9744-DA249FE532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2E225E4-1378-454F-9744-DA249FE532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cture-title">
            <a:extLst>
              <a:ext uri="{FF2B5EF4-FFF2-40B4-BE49-F238E27FC236}">
                <a16:creationId xmlns:a16="http://schemas.microsoft.com/office/drawing/2014/main" id="{037E98F4-C1FA-480C-AA84-912D656A3C7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逆矩阵的双边验证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685379E5-A315-4437-8E83-C77EAE016664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一、定义7，p.39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931382F-FBF1-46FC-AFF3-CCE83129EE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931382F-FBF1-46FC-AFF3-CCE83129EE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C=[2  -1; -1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922E35C6-4044-4495-AE48-69F1EBF473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922E35C6-4044-4495-AE48-69F1EBF473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AC=[1  0; 0  1]， CA=[1  0;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29D19E6-A8B8-4FF1-A6B2-8BC9896688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29D19E6-A8B8-4FF1-A6B2-8BC9896688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AC=CA=E， C=A^{-1}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C72B4C17-DA58-4D69-8F6A-DBC01D1B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不可逆矩阵：信息丢失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C80B2114-8226-4D51-B890-5EB4EBE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一、逆矩阵的定义、性质和求法，pp.39–40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0BB19442-9DB8-4114-BE19-994FBE9010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S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0BB19442-9DB8-4114-BE19-994FBE9010BC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S=[1  0; 0  0]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2715B495-52A1-4DE9-80C0-A08554727C4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667125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S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S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2715B495-52A1-4DE9-80C0-A08554727C47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667125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S[2; 1]=[2; 0]， S[2; 3]=[2; 0]</a:t>
                </a:r>
              </a:p>
            </p:txBody>
          </p:sp>
        </mc:Fallback>
      </mc:AlternateContent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D6911CD5-7192-4EB4-817E-3260377E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不同输入得到相同输出，还能用同一规则恢复吗？</a:t>
            </a:r>
          </a:p>
        </p:txBody>
      </p:sp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617614428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8D5BD32B-1570-4650-973A-E83825122FA1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逆矩阵的唯一性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B11FAE-A7BB-4F80-9096-BE9E087D0BD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一、逆矩阵的定义、性质和求法·唯一性·p.39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D94297B3-7A87-4AEE-ABA9-E405EFD9695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B、C 都是 A 的逆矩阵，则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A6300F7-29ED-4B80-A435-ABD0B28A2B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A6300F7-29ED-4B80-A435-ABD0B28A2B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B=BE=B(AC)=(BA)C=EC=C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2BB9C205-1E47-44E2-99DB-E3F4DAAA3EF7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逆矩阵一旦存在，便唯一确定。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78281D69-91A2-42D0-BE71-84EB3CD4A5E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逆矩阵的运算规律（1）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ECB21F8-5F32-4F90-A1D2-5912742871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25E80EE-1C81-4B06-B3CC-528A0F503F8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设A为n阶可逆矩阵。由逆矩阵的定义：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0F72E5-F7B0-4737-9747-8E85FE567D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0F72E5-F7B0-4737-9747-8E85FE567D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AA^{-1}=A^{-1}A=E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F885A244-30BB-47FD-AF71-A41D72624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6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6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6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6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F885A244-30BB-47FD-AF71-A41D72624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(A^{-1})^{-1}=A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3E325764-C7D8-4046-B1DB-0E2023DFC1D9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先做一个可逆变换，再撤销它；反过来同样恢复原状。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AD90A513-A260-4AF8-ADB1-84617F3CD0E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逆矩阵的运算规律（2）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99FA07D-3A84-464E-B7C1-4EF320868E5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086ECAA-EAA9-484B-B9B0-31CCE5054F3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设A为n阶可逆矩阵，λ为非零实数。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7CA52AF-57C9-4874-BB24-DDBDE74FFF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7CA52AF-57C9-4874-BB24-DDBDE74FFF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(λA)^{-1}=λ^{-1}A^{-1}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B5A6F7B0-F57A-4E6D-A545-F725EB68BB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λ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i"/>
                            </m:rPr>
                            <a:rPr lang="en-US" sz="21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B5A6F7B0-F57A-4E6D-A545-F725EB68BB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(λA)(λ^{-1}A^{-1})=AA^{-1}=E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3BF48B82-C95F-4FB3-B47D-096FAA7A75F8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另一侧乘积也等于E。非零条件不能省略。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802C70C-5F83-4D4E-A46C-DD3DC72C7BD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逆矩阵的运算规律（3）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2984D00-D142-407E-94BE-BB174BE08BA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一、逆矩阵的定义、性质和求法·规律(iii)·p.40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F3BEEE3C-D5D5-415E-B167-ABC826876F0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A、B 均为 n 阶可逆矩阵，则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5FBEB5A-84D1-4735-AB2B-D8DFC54F9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5FBEB5A-84D1-4735-AB2B-D8DFC54F9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(AB)^{-1}=B^{-1}A^{-1}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B19B88C-9DA3-4DBB-8F4A-F69DFFEB764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B19B88C-9DA3-4DBB-8F4A-F69DFFEB764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(AB)(B^{-1}A^{-1})=A(BB^{-1})A^{-1}=E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DBA8064-1060-4D98-B259-D0644555C8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DBA8064-1060-4D98-B259-D0644555C8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(B^{-1}A^{-1})(AB)=B^{-1}(A^{-1}A)B=E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0F97B0AA-08F6-49CD-AF3F-3AF5904F8F0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多矩阵乘积的逆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2BBC7FAD-2A46-474D-9A96-7611BA815C5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一、规律(iii)的推广，p.40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2EA323B-1D38-4D0F-AFDC-0244BE32643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设A₁、A₂、…、Aₘ为同阶可逆矩阵。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4C2C4BE-E89D-4FCA-B676-6DBB98CC1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⋯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m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4C2C4BE-E89D-4FCA-B676-6DBB98CC1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(A₁A₂⋯Aₘ)^{-1}=Aₘ^{-1}⋯A₂^{-1}A₁^{-1}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F464CC74-0515-43A3-90BF-D6DE13C56E78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撤销一串操作，要从最后一步开始。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9E289468-623C-4BAE-A464-2D703CB32B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C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9E289468-623C-4BAE-A464-2D703CB32B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(ABC)^{-1}=C^{-1}B^{-1}A^{-1}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88C6EA25-3580-475F-B7DB-DFEE3293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乘积逆矩阵的几何解释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5DF8E59B-38AB-4EBD-9778-256AE6AF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一、规律(iii)，p.40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CE8C4A02-E4C7-459E-9AD1-B35018F2E9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D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H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CE8C4A02-E4C7-459E-9AD1-B35018F2E9D4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000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D=[2  0; 0  1]， H=[1  1; 0  1]</a:t>
                </a:r>
              </a:p>
            </p:txBody>
          </p:sp>
        </mc:Fallback>
      </mc:AlternateContent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B46B0A47-DEF9-42AA-A5BF-C9E1FAA3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先伸长，再剪切。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7640A499-3349-463E-BA73-FD79139F06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286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7640A499-3349-463E-BA73-FD79139F060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2862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[1; 1] → [2; 1] → [3;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D3D7C3C9-B475-46A5-BD6A-C2E4469DA3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66737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H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D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D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H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D3D7C3C9-B475-46A5-BD6A-C2E4469DA3E8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566737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(HD)^{-1}=D^{-1}H^{-1}</a:t>
                </a:r>
              </a:p>
            </p:txBody>
          </p:sp>
        </mc:Fallback>
      </mc:AlternateContent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9465886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DC410BF-C96D-4E01-8F53-B26254DB138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逆矩阵的运算规律（4）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55F5190-7DEB-46B1-8089-A2EB92404B0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一、规律(iv)，p.40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3D755F8-8BB0-4A1A-940F-9C8AB808446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设A为n阶可逆矩阵，则A的转置也可逆。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0FC507E-3303-409A-ADED-160BBE7FE2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55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5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55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5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0FC507E-3303-409A-ADED-160BBE7FE2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(A^T)^{-1}=(A^{-1})^T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F1D-B9B1-4BA9-ABC1-D414A5C17F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F1D-B9B1-4BA9-ABC1-D414A5C17F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A^T(A^{-1})^T=(A^{-1}A)^T=E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4F229FB-B99C-4B6F-9B06-E4129C5907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4F229FB-B99C-4B6F-9B06-E4129C5907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(A^{-1})^TA^T=(AA^{-1})^T=E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5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5EA668B4-20F4-4E55-8453-679F5AF113B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可逆矩阵的整数幂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0674E05D-9310-42F0-93BF-5799BC595FC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一、可逆矩阵的整数幂，p.40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C37AA73-0F85-4287-B2D8-80312035BA4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设A可逆，k为正整数。定义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5A7B322-508B-46FE-B27B-B9651609E9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</m:t>
                          </m:r>
                          <m:r>
                            <m:rPr>
                              <m:sty m:val="i"/>
                            </m:rPr>
                            <a:rPr lang="en-US" sz="24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4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4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5A7B322-508B-46FE-B27B-B9651609E9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A^{-k}=(A^{-1})^k， A⁰=E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FD8FB46-A83A-4DCD-88BC-6FC731E256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+</m:t>
                          </m:r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FD8FB46-A83A-4DCD-88BC-6FC731E256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A^kAˡ=A^{k+l}， (A^k)ˡ=A^{kl}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D58358DB-12B5-4F2C-9FBB-2B61873901C9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此时k、l可以为任意整数；各式只涉及同一个A。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39E45064-E7E6-4A38-9A1A-27232BA48356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不可把这一规律推广成任意矩阵乘法都可交换。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EB0C323C-754E-444B-B6AA-2C9749EE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随堂测试1：逆矩阵运算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BEBB69F3-5B76-4F11-A8D0-3DE1F68B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一、逆矩阵的定义、性质和求法，pp.39–40</a:t>
            </a:r>
          </a:p>
        </p:txBody>
      </p:sp>
      <p:sp>
        <p:nvSpPr>
          <p:cNvPr id="4" name="content-1">
            <a:extLst xmlns:a="http://schemas.openxmlformats.org/drawingml/2006/main">
              <a:ext uri="{FF2B5EF4-FFF2-40B4-BE49-F238E27FC236}">
                <a16:creationId xmlns:a16="http://schemas.microsoft.com/office/drawing/2014/main" id="{CA5E4085-32C4-42A7-9924-6EE510D4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A、B均为n阶可逆矩阵。下列一定正确的是：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4E8F30CF-35FD-4F97-AC0F-A6DCF12475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4E8F30CF-35FD-4F97-AC0F-A6DCF1247516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(AB)^{-1}=A^{-1}B^{-1}</a:t>
                </a:r>
              </a:p>
            </p:txBody>
          </p:sp>
        </mc:Fallback>
      </mc:AlternateContent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52C28788-520D-44E6-8E30-C5EDED8D7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B. 若A+B可逆，则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0B118A4E-AD54-444C-A0DD-3B24748355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+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0B118A4E-AD54-444C-A0DD-3B24748355E1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048125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(A+B)^{-1}=A^{-1}+B^{-1}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 xmlns:a="http://schemas.openxmlformats.org/drawingml/2006/main">
                  <a:ext uri="{FF2B5EF4-FFF2-40B4-BE49-F238E27FC236}">
                    <a16:creationId xmlns:a16="http://schemas.microsoft.com/office/drawing/2014/main" id="{16890FB6-AC6C-4347-8DE9-9D673138D1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762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 xmlns:a="http://schemas.openxmlformats.org/drawingml/2006/main">
                  <a:ext uri="{FF2B5EF4-FFF2-40B4-BE49-F238E27FC236}">
                    <a16:creationId xmlns:a16="http://schemas.microsoft.com/office/drawing/2014/main" id="{16890FB6-AC6C-4347-8DE9-9D673138D11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762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(AB)^{-1}=B^{-1}A^{-1}</a:t>
                </a:r>
              </a:p>
            </p:txBody>
          </p:sp>
        </mc:Fallback>
      </mc:AlternateContent>
      <p:sp>
        <p:nvSpPr>
          <p:cNvPr id="9" name="content-6">
            <a:extLst xmlns:a="http://schemas.openxmlformats.org/drawingml/2006/main">
              <a:ext uri="{FF2B5EF4-FFF2-40B4-BE49-F238E27FC236}">
                <a16:creationId xmlns:a16="http://schemas.microsoft.com/office/drawing/2014/main" id="{94180081-3749-41CF-8601-EE1DE8128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D. A+B一定可逆</a:t>
            </a:r>
          </a:p>
        </p:txBody>
      </p:sp>
      <p:sp>
        <p:nvSpPr>
          <p:cNvPr id="10" name="content-7">
            <a:extLst xmlns:a="http://schemas.openxmlformats.org/drawingml/2006/main">
              <a:ext uri="{FF2B5EF4-FFF2-40B4-BE49-F238E27FC236}">
                <a16:creationId xmlns:a16="http://schemas.microsoft.com/office/drawing/2014/main" id="{F1A8F46D-4965-4F2B-80A0-CE4F72150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7620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请打开学习通，独立作答。</a:t>
            </a:r>
          </a:p>
        </p:txBody>
      </p:sp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92828088"/>
      </p:ext>
    </p:extLst>
  </p:cSld>
</p:sld>
</file>

<file path=ppt/slides/slide5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F2EECE28-F59D-4171-9E81-CAE04982640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初等矩阵与可逆性的判定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A5CD4D3-A1FD-4A65-A190-D661603EF02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性质2、定理1及推论，pp.61–63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14BC2AEF-6F11-4A7B-BDBC-E0F3E67398F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54701E99-08F3-4EA3-83C4-EAFBFBC9F7A0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2.1  初等矩阵的逆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CE00718C-A419-494C-AC13-95A942F969C2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 可逆矩阵的初等分解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5C0AC710-4AA7-4A5F-B917-C4D520A478A7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2.3  同阶方阵的单边验证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7A8265AA-D7A0-447A-8AF7-AC9208777071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随后：同步行变换求逆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0B100B2-C808-4AF3-AB7B-19E0F1F7FFF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2.1 初等矩阵的逆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84E812F-AF56-4C66-BE41-1FCB3B5083D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矩阵的初等变换·初等矩阵的逆·p.62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6E426C68-CE63-46DE-9C98-CF2995396F1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沿用书中 E(i,j)、E(i(k))、E(ij(k)) 记号。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96B5FFC3-D8BB-41D5-B0FC-490E7C1960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,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j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,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j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96B5FFC3-D8BB-41D5-B0FC-490E7C1960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E(i,j)^{-1}=E(i,j)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16E31FB0-DBED-41E8-B041-D60F43B906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/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16E31FB0-DBED-41E8-B041-D60F43B906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E(i(k))^{-1}=E(i(1/k))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98B245B-A0BD-41E9-BBC7-010AD9862D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19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j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j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98B245B-A0BD-41E9-BBC7-010AD9862D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19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E(ij(k))^{-1}=E(ij(−k))</a:t>
                </a:r>
              </a:p>
            </p:txBody>
          </p:sp>
        </mc:Fallback>
      </mc:AlternateContent>
      <p:sp>
        <p:nvSpPr>
          <p:cNvPr id="9" name="content-5">
            <a:extLst>
              <a:ext uri="{FF2B5EF4-FFF2-40B4-BE49-F238E27FC236}">
                <a16:creationId xmlns:a16="http://schemas.microsoft.com/office/drawing/2014/main" id="{90E2ACBA-EC0A-40BA-A838-256CDA680533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第二式要求 k ≠ 0；每个逆仍是同类型初等矩阵。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5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C3966600-454D-4C8B-91A7-F3A8C8AC5C9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初等矩阵的逆：验证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2691E7FC-D210-47DF-8A01-DA041FAE3DA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对应知识点：第3章§1·初等矩阵的逆·p.62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7430E1-08CA-4307-A8AE-93F4710377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7430E1-08CA-4307-A8AE-93F4710377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2; 0  1][1  -2; 0  1]=[1  0;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1AC57E2-4544-4021-8DD6-DD6B768206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1AC57E2-4544-4021-8DD6-DD6B768206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E(12(2))E(12(−2))=E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8626F18B-809D-44FB-8254-2FDFC5C179DD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先倍加，再用相反的倍数抵消，恢复单位矩阵。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DC32B40-2422-4038-986F-EE72C028732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可逆矩阵的初等分解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8D6AD321-8A42-4337-8552-7FAC6DDFE6F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矩阵的初等变换·性质2·p.62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8908B4ED-C3AB-422A-89C8-D20A4B1E5DB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  方阵 A 可逆的充分必要条件是：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01CAB676-CC9C-4162-ACC0-89B5E8C84C80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 可以写成有限个初等矩阵的乘积。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93408B36-DA40-4072-8508-2F3FBC5452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93408B36-DA40-4072-8508-2F3FBC5452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A=P₁P₂⋯Pₗ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0641AA6F-D191-49D6-AA9F-00CAF17A42A2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以下分两个方向证明。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5B347E58-1AA5-47B9-9A6F-4EC376BC54D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性质2：充分性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873A662A-CFB9-4C95-8781-039BC7B9EA7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矩阵的初等变换·性质2充分性·p.62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30DECC3-23EE-4368-B141-817F5BE14B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30DECC3-23EE-4368-B141-817F5BE14B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A=P₁P₂⋯Pₗ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69AAAAD9-36A4-44C6-AA7A-6A290AE530D0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每个 Pᵢ 都可逆，有限个可逆矩阵的乘积可逆。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FB2DDA6-B87A-4015-94A1-5BB1F74463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400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l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FB2DDA6-B87A-4015-94A1-5BB1F74463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A^{-1}=Pₗ^{-1}⋯P₂^{-1}P₁^{-1}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28A3FE13-BA47-4665-AB88-9421C3C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初等分解：必要性（1）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3D32DF97-821A-42B6-A76F-9D4A2F27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性质2、定理1及推论，pp.62–63</a:t>
            </a:r>
          </a:p>
        </p:txBody>
      </p:sp>
      <p:sp>
        <p:nvSpPr>
          <p:cNvPr id="4" name="content-1">
            <a:extLst xmlns:a="http://schemas.openxmlformats.org/drawingml/2006/main">
              <a:ext uri="{FF2B5EF4-FFF2-40B4-BE49-F238E27FC236}">
                <a16:creationId xmlns:a16="http://schemas.microsoft.com/office/drawing/2014/main" id="{BCA54A8B-CD03-4B0D-B11A-B514F9E8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设A可逆，用初等行变换把A化为行最简形F。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80A2AF60-0390-4AF7-8CEE-1AB5742EFB2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 xmlns:a="http://schemas.openxmlformats.org/drawingml/2006/main">
                  <a:ext uri="{FF2B5EF4-FFF2-40B4-BE49-F238E27FC236}">
                    <a16:creationId xmlns:a16="http://schemas.microsoft.com/office/drawing/2014/main" id="{80A2AF60-0390-4AF7-8CEE-1AB5742EFB2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85750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F=Qₜ⋯Q₂Q₁A</a:t>
                </a:r>
              </a:p>
            </p:txBody>
          </p:sp>
        </mc:Fallback>
      </mc:AlternateContent>
      <p:sp>
        <p:nvSpPr>
          <p:cNvPr id="6" name="content-3">
            <a:extLst xmlns:a="http://schemas.openxmlformats.org/drawingml/2006/main">
              <a:ext uri="{FF2B5EF4-FFF2-40B4-BE49-F238E27FC236}">
                <a16:creationId xmlns:a16="http://schemas.microsoft.com/office/drawing/2014/main" id="{42A5484A-3EA0-444F-BD53-5CA373EF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每个Q都可逆，所以F可逆。</a:t>
            </a:r>
          </a:p>
        </p:txBody>
      </p:sp>
      <p:sp>
        <p:nvSpPr>
          <p:cNvPr id="7" name="content-4">
            <a:extLst xmlns:a="http://schemas.openxmlformats.org/drawingml/2006/main">
              <a:ext uri="{FF2B5EF4-FFF2-40B4-BE49-F238E27FC236}">
                <a16:creationId xmlns:a16="http://schemas.microsoft.com/office/drawing/2014/main" id="{4BD9CCA6-D8C1-4B1D-B29B-BAFF0D30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若F有零行，右乘任何矩阵，该行仍然全为零。</a:t>
            </a:r>
          </a:p>
        </p:txBody>
      </p:sp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2A49954E-C837-4CB5-90CB-7E898E5F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768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因此F不可能与某个矩阵相乘得到E。</a:t>
            </a:r>
          </a:p>
        </p:txBody>
      </p:sp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617580472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3D3C2AE2-1F59-4626-A75C-A63115F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零行与单位矩阵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74417334-9F50-463D-8450-6EEC2ACD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性质2、定理1及推论，pp.62–63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A9C6894D-A99D-4091-8A86-AC324936FB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1907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a 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b 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c 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d 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a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c </m:t>
                                </m:r>
                              </m:e>
                              <m:e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b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  <m:r>
                                  <m:rPr>
                                    <m:sty m:val="i"/>
                                  </m:rPr>
                                  <a:rPr lang="en-US" sz="2250" i="1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d 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 xmlns:a="http://schemas.openxmlformats.org/drawingml/2006/main">
                  <a:ext uri="{FF2B5EF4-FFF2-40B4-BE49-F238E27FC236}">
                    <a16:creationId xmlns:a16="http://schemas.microsoft.com/office/drawing/2014/main" id="{A9C6894D-A99D-4091-8A86-AC324936FB89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2190750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2; 0  0][a  b; c  d]=[a+2c  b+2d; 0  0]</a:t>
                </a:r>
              </a:p>
            </p:txBody>
          </p:sp>
        </mc:Fallback>
      </mc:AlternateContent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04EADB48-1A27-4149-891E-B19B989B6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第二行始终为零，不可能得到单位矩阵。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A62E9BDE-5A64-463E-BF36-5BBB4427791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714875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A62E9BDE-5A64-463E-BF36-5BBB4427791A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714875"/>
                <a:ext cx="7620000" cy="12382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E=[1  0; 0  1]</a:t>
                </a:r>
              </a:p>
            </p:txBody>
          </p:sp>
        </mc:Fallback>
      </mc:AlternateContent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76328791"/>
      </p:ext>
    </p:extLst>
  </p:cSld>
</p:sld>
</file>

<file path=ppt/slides/slide5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ecture-title">
            <a:extLst xmlns:a="http://schemas.openxmlformats.org/drawingml/2006/main">
              <a:ext uri="{FF2B5EF4-FFF2-40B4-BE49-F238E27FC236}">
                <a16:creationId xmlns:a16="http://schemas.microsoft.com/office/drawing/2014/main" id="{4B7C4413-3DB5-4397-94C3-E5C2851F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"/>
            <a:ext cx="742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初等分解：必要性（2）</a:t>
            </a:r>
          </a:p>
        </p:txBody>
      </p:sp>
      <p:sp>
        <p:nvSpPr>
          <p:cNvPr id="2" name="textbook-locator">
            <a:extLst xmlns:a="http://schemas.openxmlformats.org/drawingml/2006/main">
              <a:ext uri="{FF2B5EF4-FFF2-40B4-BE49-F238E27FC236}">
                <a16:creationId xmlns:a16="http://schemas.microsoft.com/office/drawing/2014/main" id="{A598E5DA-F101-4859-A9D1-A2FD5560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315075"/>
            <a:ext cx="7096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性质2、定理1及推论，pp.62–63</a:t>
            </a:r>
          </a:p>
        </p:txBody>
      </p:sp>
      <p:sp>
        <p:nvSpPr>
          <p:cNvPr id="4" name="content-1">
            <a:extLst xmlns:a="http://schemas.openxmlformats.org/drawingml/2006/main">
              <a:ext uri="{FF2B5EF4-FFF2-40B4-BE49-F238E27FC236}">
                <a16:creationId xmlns:a16="http://schemas.microsoft.com/office/drawing/2014/main" id="{6EC60AD8-A3F9-4984-913F-6C7AFBEDB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F是n阶行最简形，且没有零行。</a:t>
            </a:r>
          </a:p>
        </p:txBody>
      </p:sp>
      <p:sp>
        <p:nvSpPr>
          <p:cNvPr id="5" name="content-2">
            <a:extLst xmlns:a="http://schemas.openxmlformats.org/drawingml/2006/main">
              <a:ext uri="{FF2B5EF4-FFF2-40B4-BE49-F238E27FC236}">
                <a16:creationId xmlns:a16="http://schemas.microsoft.com/office/drawing/2014/main" id="{8F3FFE4C-C144-4BAE-A36E-E565544C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n行各有一个首元，首元占据n个不同的列。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5825A3B0-3CFD-4E83-9365-BC47DF20CF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71475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 xmlns:a="http://schemas.openxmlformats.org/drawingml/2006/main">
                  <a:ext uri="{FF2B5EF4-FFF2-40B4-BE49-F238E27FC236}">
                    <a16:creationId xmlns:a16="http://schemas.microsoft.com/office/drawing/2014/main" id="{5825A3B0-3CFD-4E83-9365-BC47DF20CF6B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371475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F=E， Qₜ⋯Q₂Q₁A=E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55807D51-238E-4A7C-BA11-E8CDD69942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6725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 xmlns:a="http://schemas.openxmlformats.org/drawingml/2006/main"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a14="http://schemas.microsoft.com/office/drawing/2010/main"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 xmlns:a="http://schemas.openxmlformats.org/drawingml/2006/main">
                  <a:ext uri="{FF2B5EF4-FFF2-40B4-BE49-F238E27FC236}">
                    <a16:creationId xmlns:a16="http://schemas.microsoft.com/office/drawing/2014/main" id="{55807D51-238E-4A7C-BA11-E8CDD699428F}"/>
                  </a:ext>
                </a:extLst>
              </p:cNvPr>
              <p:cNvSpPr>
                <a:spLocks xmlns:a="http://schemas.openxmlformats.org/drawingml/2006/main" noGrp="1"/>
              </p:cNvSpPr>
              <p:nvPr/>
            </p:nvSpPr>
            <p:spPr>
              <a:xfrm xmlns:a="http://schemas.openxmlformats.org/drawingml/2006/main">
                <a:off x="762000" y="4667250"/>
                <a:ext cx="7620000" cy="666750"/>
              </a:xfrm>
              <a:prstGeom xmlns:a="http://schemas.openxmlformats.org/drawingml/2006/main" prst="rect">
                <a:avLst/>
              </a:prstGeom>
              <a:noFill xmlns:a="http://schemas.openxmlformats.org/drawingml/2006/main"/>
              <a:ln xmlns:a="http://schemas.openxmlformats.org/drawingml/2006/main" w="0">
                <a:noFill/>
              </a:ln>
            </p:spPr>
            <p:txBody>
              <a:bodyPr xmlns:a="http://schemas.openxmlformats.org/drawingml/2006/main" wrap="square" lIns="0" tIns="0" rIns="0" bIns="0" anchor="ctr">
                <a:noAutofit/>
              </a:bodyPr>
              <a:lstStyle xmlns:a="http://schemas.openxmlformats.org/drawingml/2006/main"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 xmlns:a="http://schemas.openxmlformats.org/drawingml/2006/main"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A=Q₁^{-1}Q₂^{-1}⋯Qₜ^{-1}</a:t>
                </a:r>
              </a:p>
            </p:txBody>
          </p:sp>
        </mc:Fallback>
      </mc:AlternateContent>
      <p:sp>
        <p:nvSpPr>
          <p:cNvPr id="8" name="content-5">
            <a:extLst xmlns:a="http://schemas.openxmlformats.org/drawingml/2006/main">
              <a:ext uri="{FF2B5EF4-FFF2-40B4-BE49-F238E27FC236}">
                <a16:creationId xmlns:a16="http://schemas.microsoft.com/office/drawing/2014/main" id="{C0D9247B-C87D-48FA-815C-DCCC8063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72125"/>
            <a:ext cx="7620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初等矩阵的逆仍是初等矩阵，分解得到。</a:t>
            </a:r>
          </a:p>
        </p:txBody>
      </p:sp>
      <p:sp xmlns:a="http://schemas.openxmlformats.org/drawingml/2006/main"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033571910"/>
      </p:ext>
    </p:extLst>
  </p:cSld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5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2EF3A4E-DAF0-465F-BE77-A035BC23FAF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2.3 同阶方阵的单边验证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F70815E-FB87-4A31-995E-F031078DA72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一、推论，p.40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2CCF7A2C-8391-4E7C-8199-2737C4E5AB7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设A、B均为n阶方阵。则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E98F5B78-B7EB-4800-A709-5EAC770196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⇒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E98F5B78-B7EB-4800-A709-5EAC770196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AB=E ⇒ B=A^{-1}， BA=E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D941AB18-457E-4DAF-BFEC-E27E8DA3655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同阶方阵是本结论的必要条件。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29A16894-AC42-42BD-A34C-750B2953384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下面只用行最简形和初等矩阵证明。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5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2392E9A4-047C-48F9-BF02-9BB699B4981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单边验证：证明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99F58A1-34A9-4F28-8683-10C6B714F9D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对应：第2章 §3 一、推论，p.40；第3章 §1，p.63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FE19C7A0-93EE-4436-8B40-86F69778FF27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设AB=E。用行变换使PA=F，F为行最简形，P可逆。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5852ED41-CCF3-4F11-8B51-E1BF9EC044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5852ED41-CCF3-4F11-8B51-E1BF9EC044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FB=(PA)B=P(AB)=P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E9E5876D-1237-46A1-B538-CE012F1EF64E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若F有零行，则FB也有零行；这与P可逆矛盾。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F85FC7AA-37C8-4A2D-B628-170EB330914D}"/>
              </a:ext>
            </a:extLst>
          </p:cNvPr>
          <p:cNvSpPr>
            <a:spLocks noGrp="1"/>
          </p:cNvSpPr>
          <p:nvPr/>
        </p:nvSpPr>
        <p:spPr>
          <a:xfrm>
            <a:off x="762000" y="4524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F是无零行的n阶行最简方阵，因此F=E。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C354854A-63E9-40F7-9760-8AE563D7FA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C354854A-63E9-40F7-9760-8AE563D7FA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A=P^{-1}， B=(PA)B=P(AB)=P=A^{-1}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7114</Words>
  <Application>Microsoft Macintosh PowerPoint</Application>
  <DocSecurity>0</DocSecurity>
  <PresentationFormat>On-screen Show (4:3)</PresentationFormat>
  <Paragraphs>789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微软雅黑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Quan Guo</cp:lastModifiedBy>
  <cp:revision>1</cp:revision>
  <dcterms:created xsi:type="dcterms:W3CDTF">2026-10-18T20:11:28Z</dcterms:created>
  <dcterms:modified xsi:type="dcterms:W3CDTF">2026-10-20T17:54:59Z</dcterms:modified>
</cp:coreProperties>
</file>