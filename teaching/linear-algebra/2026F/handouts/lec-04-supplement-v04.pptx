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1" r:id="rId2"/>
    <p:sldId id="402" r:id="rId3"/>
    <p:sldId id="403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15" r:id="rId16"/>
    <p:sldId id="416" r:id="rId17"/>
    <p:sldId id="418" r:id="rId18"/>
    <p:sldId id="421" r:id="rId19"/>
    <p:sldId id="419" r:id="rId20"/>
    <p:sldId id="417" r:id="rId21"/>
    <p:sldId id="422" r:id="rId22"/>
    <p:sldId id="420" r:id="rId23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75"/>
  </p:normalViewPr>
  <p:slideViewPr>
    <p:cSldViewPr snapToGrid="0">
      <p:cViewPr>
        <p:scale>
          <a:sx n="130" d="100"/>
          <a:sy n="130" d="100"/>
        </p:scale>
        <p:origin x="1208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'1.0' encoding='UTF-8' standalone='yes'?>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10BE-174A-4444-A1D2-6B4676EAB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84941"/>
            <a:ext cx="7772400" cy="1825021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B985B-0CCA-455C-BF14-2CCC419CC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ED788-F81B-427A-B704-315256F93B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ABBFB90-40F0-924A-AC90-AF06BE2CE8BC}" type="datetime1">
              <a:t>10/28/26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65264-D824-4A11-AB0F-4B117F1A8C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1D79F-4263-4B93-B636-3EA0CB9F2A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8D73F-BEC3-4DFE-AC02-8DDE8BB53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367"/>
            <a:ext cx="3847548" cy="9533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正文（半透明白底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减扰白底（母版版式）"/>
          <p:cNvSpPr>
            <a:spLocks noGrp="1"/>
          </p:cNvSpPr>
          <p:nvPr/>
        </p:nvSpPr>
        <p:spPr>
          <a:xfrm>
            <a:off x="0" y="1695450"/>
            <a:ext cx="9144000" cy="5162550"/>
          </a:xfrm>
          <a:prstGeom prst="rect">
            <a:avLst/>
          </a:prstGeom>
          <a:gradFill>
            <a:gsLst>
              <a:gs pos="15000">
                <a:srgbClr val="F2F9FD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84786"/>
                </a:schemeClr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1EBAF-4A63-4E7A-AE06-96E39760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C9586-1E2F-4BCA-AD28-02E9CF10B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BCCE6-9DC6-448B-92AA-D611E039B2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A53830-170D-A84E-A17B-BDF67C5F6563}" type="datetime1">
              <a:t>10/28/26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42768-F1A1-40E3-A79F-5229A391DB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B15FB-6154-412C-958C-FDC5500494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7D1E-53A9-45A0-8A83-F2D86784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B948F-CC85-437A-8199-50EE41A2E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C130C-8604-4D3F-8349-388B34188F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38798FA-818A-5041-9AF9-D7A661FB7861}" type="datetime1">
              <a:t>10/28/26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92D1-2FB8-4124-8472-A76C10DBDD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6727E-2839-4F44-B26C-3F1806E59E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A516-6730-4419-B041-EC65EA83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52EC8-17C4-410B-9B14-5FC579CAA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7227D-F697-4914-9F59-06E9ACAFF0F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5C4D-74E6-4AD6-B832-9AFBE466F33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9500264-D2BC-1F4C-97D3-C434A8A51AD5}" type="datetime1">
              <a:t>10/28/26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7E649-3ECE-410D-B652-E2E5EFCB7B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6BDE7-EE05-46C7-9941-424B0E1F4D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0D01-4CE9-4376-92FD-27BEEB93E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61A04-57FE-408F-973E-E6F5617AE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F210E-878D-4337-A352-7CB530ECE9C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3DD54C-0AB3-4029-9C4D-E2C776B8810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4DF19-4C74-4EAC-80F5-C1171181AA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C8697-23F9-4690-A87C-86CA83F765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B65A6B-2C1F-314A-ABFA-F6E149FDACC1}" type="datetime1">
              <a:t>10/28/26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992C7-53A7-4983-8384-0BFBED1977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EDB30-441E-46C5-85F1-B4A4CC58ED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57CF-42FF-45AF-B031-644A0E1E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8DA2D-E805-4EC3-8E48-BEBD215A37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B69489-80A7-E142-84FC-5F37A74E03FE}" type="datetime1">
              <a:t>10/28/26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3FD67-9CBE-4853-9503-9713CC3C80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7B1FF-09BB-4D6C-A03A-3A91FE8F28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8527E-CF81-462C-86A5-4E6F363EE3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D48C6-D631-5043-9650-9710DA63924F}" type="datetime1">
              <a:t>10/28/26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C78A0-BB33-4408-B015-FBF9E7D58E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85B9E-76C6-4E42-870F-66220576A7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0AED-0A3E-47A3-8166-BDAE4E29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C949-F472-47A2-88DF-7EE5CFC41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4FFA4-4461-47DC-83B8-E9DCF74739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D3AC7-C398-4FED-BC4F-0A8D21E1B7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6B9322-A133-3A4F-A144-D2BA2167143F}" type="datetime1">
              <a:t>10/28/26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0CE35-CB1B-4D42-9146-13DABFC785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28F4F-B79D-4DBE-A87E-DCA07CB787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1DD9-75D2-40E1-91D1-3EDC100C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F492D-87D9-4669-885C-07D18DBC5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9781D-2E86-4255-8387-99B169C31E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F7A66-58F3-43F5-AE00-7E82C1584B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5EDC21-2EB8-B340-92B6-C360835AC0CF}" type="datetime1">
              <a:t>10/28/26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43AFC-C712-4837-AD54-AFC1DEFFB5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F9DD3-1B74-44F4-8B8C-2C5A2E20C1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239B-E435-4715-8202-C764FD18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B58AE-86E0-47D2-9F2A-65DC95761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5988A-562F-4E6A-BE40-C4E6090624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4311C6-E5C3-7846-9807-1FFF2C76B421}" type="datetime1">
              <a:t>10/28/26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2DD06-2D10-4108-95C8-A6312AFB5B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1A910-9D15-437E-8F0B-AA7CEFCF2C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43EF0-0F81-407C-A21D-614F8238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01535-0DF9-49FD-949B-456C59475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584C-0209-4958-B8C6-B8E9FE2916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BE1744-1A22-8E44-A05A-52D3A976BAC8}" type="datetime1">
              <a:t>10/28/26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10C8B-D348-41EF-9217-54AF219A60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E1EC-4B30-46DF-A550-CA2D0A017D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31E980-7B3F-4648-BD7A-E5A7FEB4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7A54C-2780-4DC3-9BD1-D2F7A23CB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A2F01-EA00-42B2-ADA1-35D4B436A13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49F90-9EE0-244F-825B-BDF874172E77}" type="datetime1">
              <a:t>10/28/26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484BC-FA77-46EC-94D6-B13C6ADB7EC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1ED11-F4BA-4929-99F9-7FD08BE64C9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273A-A102-1B42-956A-6E5E32854C5D}" type="slidenum"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E08E29-1248-4CB3-99E2-D7E5CCAB89D1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740" t="39500" r="24740" b="24740"/>
          <a:stretch/>
        </p:blipFill>
        <p:spPr>
          <a:xfrm>
            <a:off x="7186274" y="359380"/>
            <a:ext cx="1329076" cy="13313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1E1B5BFC-0703-4AC9-BCD8-E89AE37A83C0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7429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线性代数</a:t>
            </a:r>
          </a:p>
        </p:txBody>
      </p:sp>
      <p:sp>
        <p:nvSpPr>
          <p:cNvPr id="2" name="cover-english">
            <a:extLst>
              <a:ext uri="{FF2B5EF4-FFF2-40B4-BE49-F238E27FC236}">
                <a16:creationId xmlns:a16="http://schemas.microsoft.com/office/drawing/2014/main" id="{0D64F192-F423-4F9B-AA66-16239765F2CD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7429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defPPr>
            <a:lvl1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1pPr>
            <a:lvl2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2pPr>
            <a:lvl3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3pPr>
            <a:lvl4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4pPr>
            <a:lvl5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5pPr>
            <a:lvl6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6pPr>
            <a:lvl7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7pPr>
            <a:lvl8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8pPr>
            <a:lvl9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pPr>
            <a:r>
              <a:rPr sz="4350" b="0">
                <a:solidFill>
                  <a:srgbClr val="151515"/>
                </a:solidFill>
                <a:latin typeface="Cambria"/>
                <a:ea typeface="Cambria"/>
                <a:cs typeface="Cambria"/>
              </a:rPr>
              <a:t>Linear Algebra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6C9BA460-F825-401E-B06C-B8C44738A443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7429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rPr>
              <a:t>第四讲补充 · 同步变换与过程记录</a:t>
            </a:r>
          </a:p>
        </p:txBody>
      </p:sp>
      <p:sp>
        <p:nvSpPr>
          <p:cNvPr id="4" name="cover-class">
            <a:extLst>
              <a:ext uri="{FF2B5EF4-FFF2-40B4-BE49-F238E27FC236}">
                <a16:creationId xmlns:a16="http://schemas.microsoft.com/office/drawing/2014/main" id="{7F034925-B041-4B65-97AB-6019A3DE6721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742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人工智能学院 · 26计科03班、04班</a:t>
            </a:r>
          </a:p>
        </p:txBody>
      </p:sp>
      <p:sp>
        <p:nvSpPr>
          <p:cNvPr id="5" name="cover-lecturer">
            <a:extLst>
              <a:ext uri="{FF2B5EF4-FFF2-40B4-BE49-F238E27FC236}">
                <a16:creationId xmlns:a16="http://schemas.microsoft.com/office/drawing/2014/main" id="{CFE0E8B3-0066-4A58-A1A3-11D171CB92B1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7429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主讲：郭泉</a:t>
            </a:r>
          </a:p>
        </p:txBody>
      </p:sp>
    </p:spTree>
    <p:extLst>
      <p:ext uri="{BB962C8B-B14F-4D97-AF65-F5344CB8AC3E}">
        <p14:creationId xmlns:p14="http://schemas.microsoft.com/office/powerpoint/2010/main" val="953044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8E0628FD-2203-4524-82DC-9437A1AB97F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上讲回顾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76703F02-A2BD-47E5-87B1-FF7DCE0F877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定义1、性质1，pp.58、62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17062478-560C-4978-ADB3-C511023CC64E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初等行变换：整行同步，保持方程组的共同解。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AE6C40F9-E2FA-46DA-B940-800104B6FF64}"/>
              </a:ext>
            </a:extLst>
          </p:cNvPr>
          <p:cNvSpPr>
            <a:spLocks noGrp="1"/>
          </p:cNvSpPr>
          <p:nvPr/>
        </p:nvSpPr>
        <p:spPr>
          <a:xfrm>
            <a:off x="762000" y="3000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初等矩阵：左乘改变行，右乘改变列。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8CC449B3-21D1-4DBF-8E3F-DC95FF30CB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50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550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55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⋯</m:t>
                      </m:r>
                      <m:sSub>
                        <m:sSubPr>
                          <m:ctrlPr>
                            <a:rPr lang="en-US" sz="2550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550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550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550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550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550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8CC449B3-21D1-4DBF-8E3F-DC95FF30CB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F=Pₛ⋯P₂P₁A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FDF78389-7A27-4F1F-AAD7-D2BCFB645B8E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连续行变换：后做的操作，对应的矩阵乘在左边。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cture-title">
            <a:extLst>
              <a:ext uri="{FF2B5EF4-FFF2-40B4-BE49-F238E27FC236}">
                <a16:creationId xmlns:a16="http://schemas.microsoft.com/office/drawing/2014/main" id="{C79466F8-E80B-402F-8CC9-345631C19777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提纲</a:t>
            </a:r>
          </a:p>
        </p:txBody>
      </p:sp>
      <p:sp>
        <p:nvSpPr>
          <p:cNvPr id="3" name="content-1">
            <a:extLst>
              <a:ext uri="{FF2B5EF4-FFF2-40B4-BE49-F238E27FC236}">
                <a16:creationId xmlns:a16="http://schemas.microsoft.com/office/drawing/2014/main" id="{7A1F8336-91EE-408A-B617-5E80277287DB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一、第四讲补充：同步变换与过程记录</a:t>
            </a:r>
          </a:p>
        </p:txBody>
      </p:sp>
      <p:sp>
        <p:nvSpPr>
          <p:cNvPr id="4" name="content-2">
            <a:extLst>
              <a:ext uri="{FF2B5EF4-FFF2-40B4-BE49-F238E27FC236}">
                <a16:creationId xmlns:a16="http://schemas.microsoft.com/office/drawing/2014/main" id="{ED159914-0FAC-4679-8A4F-070605E6C7FB}"/>
              </a:ext>
            </a:extLst>
          </p:cNvPr>
          <p:cNvSpPr>
            <a:spLocks noGrp="1"/>
          </p:cNvSpPr>
          <p:nvPr/>
        </p:nvSpPr>
        <p:spPr>
          <a:xfrm>
            <a:off x="762000" y="2447925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教材：第3章 §1 例1，pp.63–64</a:t>
            </a:r>
          </a:p>
        </p:txBody>
      </p:sp>
      <p:sp>
        <p:nvSpPr>
          <p:cNvPr id="5" name="content-3">
            <a:extLst>
              <a:ext uri="{FF2B5EF4-FFF2-40B4-BE49-F238E27FC236}">
                <a16:creationId xmlns:a16="http://schemas.microsoft.com/office/drawing/2014/main" id="{F1E705D3-BFB1-4F13-906B-D7B49D0E4151}"/>
              </a:ext>
            </a:extLst>
          </p:cNvPr>
          <p:cNvSpPr>
            <a:spLocks noGrp="1"/>
          </p:cNvSpPr>
          <p:nvPr/>
        </p:nvSpPr>
        <p:spPr>
          <a:xfrm>
            <a:off x="1095375" y="3000375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连续行变换的乘法表示</a:t>
            </a:r>
          </a:p>
        </p:txBody>
      </p:sp>
      <p:sp>
        <p:nvSpPr>
          <p:cNvPr id="6" name="content-4">
            <a:extLst>
              <a:ext uri="{FF2B5EF4-FFF2-40B4-BE49-F238E27FC236}">
                <a16:creationId xmlns:a16="http://schemas.microsoft.com/office/drawing/2014/main" id="{569A2168-4101-4E7B-80A7-FE37FE15EEE8}"/>
              </a:ext>
            </a:extLst>
          </p:cNvPr>
          <p:cNvSpPr>
            <a:spLocks noGrp="1"/>
          </p:cNvSpPr>
          <p:nvPr/>
        </p:nvSpPr>
        <p:spPr>
          <a:xfrm>
            <a:off x="1095375" y="3571875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多个右端项的同步求解</a:t>
            </a:r>
          </a:p>
        </p:txBody>
      </p:sp>
      <p:sp>
        <p:nvSpPr>
          <p:cNvPr id="7" name="content-5">
            <a:extLst>
              <a:ext uri="{FF2B5EF4-FFF2-40B4-BE49-F238E27FC236}">
                <a16:creationId xmlns:a16="http://schemas.microsoft.com/office/drawing/2014/main" id="{D159663B-E558-40BD-855C-1CF839A83B9E}"/>
              </a:ext>
            </a:extLst>
          </p:cNvPr>
          <p:cNvSpPr>
            <a:spLocks noGrp="1"/>
          </p:cNvSpPr>
          <p:nvPr/>
        </p:nvSpPr>
        <p:spPr>
          <a:xfrm>
            <a:off x="1095375" y="4143375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教材例1：同步化简与验证</a:t>
            </a:r>
          </a:p>
        </p:txBody>
      </p:sp>
      <p:sp>
        <p:nvSpPr>
          <p:cNvPr id="8" name="content-6">
            <a:extLst>
              <a:ext uri="{FF2B5EF4-FFF2-40B4-BE49-F238E27FC236}">
                <a16:creationId xmlns:a16="http://schemas.microsoft.com/office/drawing/2014/main" id="{D05DCAB5-5D87-4E06-857B-F85958DB7F69}"/>
              </a:ext>
            </a:extLst>
          </p:cNvPr>
          <p:cNvSpPr>
            <a:spLocks noGrp="1"/>
          </p:cNvSpPr>
          <p:nvPr/>
        </p:nvSpPr>
        <p:spPr>
          <a:xfrm>
            <a:off x="1095375" y="4714875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1.4 过程记录的不唯一性</a:t>
            </a:r>
          </a:p>
        </p:txBody>
      </p:sp>
      <p:sp>
        <p:nvSpPr>
          <p:cNvPr id="9" name="content-7">
            <a:extLst>
              <a:ext uri="{FF2B5EF4-FFF2-40B4-BE49-F238E27FC236}">
                <a16:creationId xmlns:a16="http://schemas.microsoft.com/office/drawing/2014/main" id="{E6F3820D-50D2-4AE7-9E26-26FF1B17B277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二、第一板块小结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92362EE9-AD56-49D4-BDA0-3C74D2F3070A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第四讲补充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5EEE835B-4665-4076-BAB6-F18154B20528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例1，pp.63–64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B978F9B5-5940-4105-9E00-3BFFB39F4D92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同步变换与过程记录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18681877-213B-4C04-839E-8862921540E3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 连续行变换的乘法表示</a:t>
            </a:r>
          </a:p>
        </p:txBody>
      </p:sp>
      <p:sp>
        <p:nvSpPr>
          <p:cNvPr id="6" name="content-3">
            <a:extLst>
              <a:ext uri="{FF2B5EF4-FFF2-40B4-BE49-F238E27FC236}">
                <a16:creationId xmlns:a16="http://schemas.microsoft.com/office/drawing/2014/main" id="{E4283E20-C064-4FDF-8254-0A22D25AE13E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 多个右端项的同时处理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82C31D46-9196-46E2-BC62-16754547ACD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 教材例1：同步化简与验证</a:t>
            </a:r>
          </a:p>
        </p:txBody>
      </p:sp>
      <p:sp>
        <p:nvSpPr>
          <p:cNvPr id="8" name="content-5">
            <a:extLst>
              <a:ext uri="{FF2B5EF4-FFF2-40B4-BE49-F238E27FC236}">
                <a16:creationId xmlns:a16="http://schemas.microsoft.com/office/drawing/2014/main" id="{D5C72EF5-A477-49DA-88DB-904C53E8FE17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1.4  过程记录的不唯一性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248E9F73-71A3-487F-B8BF-136948E4A148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连续行变换的乘法表示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6DB1416D-2CA5-4EC4-9A6F-23DD40FB6012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矩阵的初等变换，定理1证明的行变换方向，p63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2EF2690D-4DEB-4FA9-9900-C34278E02E86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5" name="first">
                <a:extLst>
                  <a:ext uri="{FF2B5EF4-FFF2-40B4-BE49-F238E27FC236}">
                    <a16:creationId xmlns:a16="http://schemas.microsoft.com/office/drawing/2014/main" id="{B86FD925-CF1C-47DD-9E1D-C16C2C3E18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₁ = 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05" name="first">
                <a:extLst>
                  <a:ext uri="{FF2B5EF4-FFF2-40B4-BE49-F238E27FC236}">
                    <a16:creationId xmlns:a16="http://schemas.microsoft.com/office/drawing/2014/main" id="{B86FD925-CF1C-47DD-9E1D-C16C2C3E18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A₁ = P₁A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6" name="second">
                <a:extLst>
                  <a:ext uri="{FF2B5EF4-FFF2-40B4-BE49-F238E27FC236}">
                    <a16:creationId xmlns:a16="http://schemas.microsoft.com/office/drawing/2014/main" id="{08F582BC-BCA5-452F-BC61-2F68553322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05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₁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06" name="second">
                <a:extLst>
                  <a:ext uri="{FF2B5EF4-FFF2-40B4-BE49-F238E27FC236}">
                    <a16:creationId xmlns:a16="http://schemas.microsoft.com/office/drawing/2014/main" id="{08F582BC-BCA5-452F-BC61-2F68553322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05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 = P₂A₁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7" name="substitute">
                <a:extLst>
                  <a:ext uri="{FF2B5EF4-FFF2-40B4-BE49-F238E27FC236}">
                    <a16:creationId xmlns:a16="http://schemas.microsoft.com/office/drawing/2014/main" id="{5B223672-F4B6-42C1-B05A-E64441C345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₂(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) = (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₁)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07" name="substitute">
                <a:extLst>
                  <a:ext uri="{FF2B5EF4-FFF2-40B4-BE49-F238E27FC236}">
                    <a16:creationId xmlns:a16="http://schemas.microsoft.com/office/drawing/2014/main" id="{5B223672-F4B6-42C1-B05A-E64441C345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 = P₂(P₁A) = (P₂P₁)A</a:t>
                </a:r>
              </a:p>
            </p:txBody>
          </p:sp>
        </mc:Fallback>
      </mc:AlternateContent>
      <p:sp>
        <p:nvSpPr>
          <p:cNvPr id="1008" name="order">
            <a:extLst>
              <a:ext uri="{FF2B5EF4-FFF2-40B4-BE49-F238E27FC236}">
                <a16:creationId xmlns:a16="http://schemas.microsoft.com/office/drawing/2014/main" id="{DE09C400-F138-4AB0-9293-99CE6E096263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后做的操作，乘在已有乘积的左边。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" grpId="0" animBg="1"/>
      <p:bldP spid="1007" grpId="0" animBg="1"/>
      <p:bldP spid="100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27AC4865-C90B-4099-B5C6-3518B4CB38F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同系数矩阵的方程组（1）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427A1FC3-3BE0-4824-AEA0-F703A8561417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例1前说明，p.63；同步行变换的引例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同一个系数矩阵，先取第一个右端项。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BF0E4C20-12D7-4359-8F6C-1037067A50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2 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， 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2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25" b="1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325" b="0" i="1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25" b="0" i="1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325" b="0" i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1 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325" b="0" i="1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25" b="0" i="1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325" b="0" i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2 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BF0E4C20-12D7-4359-8F6C-1037067A50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A[u₁; u₂]=[1; 0]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9100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3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3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9100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u₁+u₂=1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AFC3640-91FD-41B9-BB12-BD0A5978517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3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+2</m:t>
                      </m:r>
                      <m:sSub>
                        <m:sSubPr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3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AFC3640-91FD-41B9-BB12-BD0A5978517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u₁+2u₂=0</a:t>
                </a:r>
              </a:p>
            </p:txBody>
          </p:sp>
        </mc:Fallback>
      </mc:AlternateContent>
      <p:sp>
        <p:nvSpPr>
          <p:cNvPr id="8" name="content-5">
            <a:extLst>
              <a:ext uri="{FF2B5EF4-FFF2-40B4-BE49-F238E27FC236}">
                <a16:creationId xmlns:a16="http://schemas.microsoft.com/office/drawing/2014/main" id="{44057FB5-376C-4AD8-B6AF-205FCA7B3608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7620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系数列与右端项，作相同的行变换。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9901" name="augmented-label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4667250" y="3905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增广矩阵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02" name="augmented-matrix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67250" y="4333875"/>
                <a:ext cx="32385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9902" name="augmented-matrix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67250" y="4333875"/>
                <a:ext cx="32385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增广矩阵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03D7D85E-8731-48EA-918B-134CA618C754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同系数矩阵的方程组（2）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AA2512F2-A225-45C9-B5CD-7D84967AD776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例1前说明，p.63；同步行变换的引例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033986A9-C5A4-49AF-89F5-FCC46221AE23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系数不变，右端项改为第二个单位列向量。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11105E9A-8C3C-48C6-8CD9-0854DAAC10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2 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， 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2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25" b="1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325" b="0" i="1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25" b="0" i="1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325" b="0" i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1 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325" b="0" i="1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25" b="0" i="1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325" b="0" i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2 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0 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11105E9A-8C3C-48C6-8CD9-0854DAAC10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A[v₁; v₂]=[0; 1]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19106596-79A9-410B-8194-16BAAA5E42A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9100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3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3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19106596-79A9-410B-8194-16BAAA5E42A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9100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v₁+v₂=0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4F3C7D5E-5136-4C37-986E-B9EF3B7F04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3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+2</m:t>
                      </m:r>
                      <m:sSub>
                        <m:sSubPr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3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4F3C7D5E-5136-4C37-986E-B9EF3B7F04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32385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v₁+2v₂=1</a:t>
                </a:r>
              </a:p>
            </p:txBody>
          </p:sp>
        </mc:Fallback>
      </mc:AlternateContent>
      <p:sp>
        <p:nvSpPr>
          <p:cNvPr id="8" name="content-5">
            <a:extLst>
              <a:ext uri="{FF2B5EF4-FFF2-40B4-BE49-F238E27FC236}">
                <a16:creationId xmlns:a16="http://schemas.microsoft.com/office/drawing/2014/main" id="{F7B1AA87-9841-430A-925B-3EEC1514B974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7620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系数列与右端项，作相同的行变换。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9901" name="augmented-label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4667250" y="3905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增广矩阵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02" name="augmented-matrix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67250" y="4333875"/>
                <a:ext cx="32385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9902" name="augmented-matrix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67250" y="4333875"/>
                <a:ext cx="32385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增广矩阵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6F2953BD-2D57-4008-92BA-21227FCCF5D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多个右端项的同步求解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DE822152-FC05-4A9E-AB6E-89A808B38B7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例1前说明，p.63；同步行变换的引例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BF24F15B-96C4-4AB0-BBBD-9D16F775EC3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把两个右端项并排写入同一张增广矩阵。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2B018391-F086-4782-B3D3-A2F9968BD1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0 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2B018391-F086-4782-B3D3-A2F9968BD1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1  1  0; 1  2  0  1]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6602DF94-DFA6-4A0B-B373-809EA340B2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00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 ← </m:t>
                      </m:r>
                      <m:sSub>
                        <m:sSubPr>
                          <m:ctrlP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00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 − </m:t>
                      </m:r>
                      <m:sSub>
                        <m:sSubPr>
                          <m:ctrlP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00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，  </m:t>
                      </m:r>
                      <m:sSub>
                        <m:sSubPr>
                          <m:ctrlP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00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 ← </m:t>
                      </m:r>
                      <m:sSub>
                        <m:sSubPr>
                          <m:ctrlP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00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 − </m:t>
                      </m:r>
                      <m:sSub>
                        <m:sSubPr>
                          <m:ctrlP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00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6602DF94-DFA6-4A0B-B373-809EA340B2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r₂ ← r₂ − r₁，  r₁ ← r₁ − r₂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723AA13-2C18-47FB-A95A-286BCE6718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−1 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−1 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723AA13-2C18-47FB-A95A-286BCE6718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0  2  -1; 0  1  -1  1]</a:t>
                </a:r>
              </a:p>
            </p:txBody>
          </p:sp>
        </mc:Fallback>
      </mc:AlternateContent>
      <p:sp>
        <p:nvSpPr>
          <p:cNvPr id="8" name="content-5">
            <a:extLst>
              <a:ext uri="{FF2B5EF4-FFF2-40B4-BE49-F238E27FC236}">
                <a16:creationId xmlns:a16="http://schemas.microsoft.com/office/drawing/2014/main" id="{C132A9B7-C99C-4DB2-8AAD-387E0BDB3581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左块只消元一次，右侧两列分别得到两个解。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BB929C1F-AD5E-4ABB-8A68-984CFCEA0DED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横向分块与同步行变换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F37937B5-E057-459A-B998-FEE2045B99EC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§5 矩阵分块法，规则(iii)，p47；第3章 §1，例1，p63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1930F530-4BC5-4CA4-9812-6F82E148F3B9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740E917A-778D-4827-A71E-2578CBDBC44B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把原矩阵与单位矩阵横向拼接，整行一起变换。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put">
                <a:extLst>
                  <a:ext uri="{FF2B5EF4-FFF2-40B4-BE49-F238E27FC236}">
                    <a16:creationId xmlns:a16="http://schemas.microsoft.com/office/drawing/2014/main" id="{3D5CECF2-9C38-41CF-A2C2-FB8B946EF4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14625"/>
                <a:ext cx="7620000" cy="1047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𝑬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₂)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5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50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input">
                <a:extLst xmlns:a="http://schemas.openxmlformats.org/drawingml/2006/main">
                  <a:ext uri="{FF2B5EF4-FFF2-40B4-BE49-F238E27FC236}">
                    <a16:creationId xmlns:a16="http://schemas.microsoft.com/office/drawing/2014/main" id="{3D5CECF2-9C38-41CF-A2C2-FB8B946EF4A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714625"/>
                <a:ext cx="762000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 | E₂) = [1 2 | 1 0; 3 4 | 0 1]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peration">
                <a:extLst>
                  <a:ext uri="{FF2B5EF4-FFF2-40B4-BE49-F238E27FC236}">
                    <a16:creationId xmlns:a16="http://schemas.microsoft.com/office/drawing/2014/main" id="{966151FF-85B0-4607-B2FF-34A25545572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857625"/>
                <a:ext cx="7620000" cy="523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0" i="1">
                          <a:solidFill>
                            <a:srgbClr val="196584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₂ ← </m:t>
                      </m:r>
                      <m:r>
                        <a:rPr lang="en-US" sz="2400" b="0" i="1">
                          <a:solidFill>
                            <a:srgbClr val="196584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₂ − 3</m:t>
                      </m:r>
                      <m:r>
                        <a:rPr lang="en-US" sz="2400" b="0" i="1">
                          <a:solidFill>
                            <a:srgbClr val="196584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₁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operation">
                <a:extLst xmlns:a="http://schemas.openxmlformats.org/drawingml/2006/main">
                  <a:ext uri="{FF2B5EF4-FFF2-40B4-BE49-F238E27FC236}">
                    <a16:creationId xmlns:a16="http://schemas.microsoft.com/office/drawing/2014/main" id="{966151FF-85B0-4607-B2FF-34A25545572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857625"/>
                <a:ext cx="7620000" cy="523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r₂ ← r₂ − 3r₁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sult">
                <a:extLst>
                  <a:ext uri="{FF2B5EF4-FFF2-40B4-BE49-F238E27FC236}">
                    <a16:creationId xmlns:a16="http://schemas.microsoft.com/office/drawing/2014/main" id="{7FDC08E4-2A5D-4CE8-BB29-7CFAA4FA098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19625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sz="255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5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sult">
                <a:extLst xmlns:a="http://schemas.openxmlformats.org/drawingml/2006/main">
                  <a:ext uri="{FF2B5EF4-FFF2-40B4-BE49-F238E27FC236}">
                    <a16:creationId xmlns:a16="http://schemas.microsoft.com/office/drawing/2014/main" id="{7FDC08E4-2A5D-4CE8-BB29-7CFAA4FA09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619625"/>
                <a:ext cx="7620000" cy="1095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2 | 1 0; 0 −2 | −3 1]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71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121CAD49-1ED2-4607-A368-3D5BF578D2E9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同步变换的分块解释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415899B8-2A98-4F26-B940-0D5D68558A31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§5 矩阵分块法，规则(iii)，p47；第3章 §1，例1，p63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DDB90ABD-B400-465E-A44A-11CCF013C163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">
                <a:extLst>
                  <a:ext uri="{FF2B5EF4-FFF2-40B4-BE49-F238E27FC236}">
                    <a16:creationId xmlns:a16="http://schemas.microsoft.com/office/drawing/2014/main" id="{8A7E5757-62EE-478B-91A5-57E6D401BAB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7620000" cy="952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">
                <a:extLst xmlns:a="http://schemas.openxmlformats.org/drawingml/2006/main">
                  <a:ext uri="{FF2B5EF4-FFF2-40B4-BE49-F238E27FC236}">
                    <a16:creationId xmlns:a16="http://schemas.microsoft.com/office/drawing/2014/main" id="{8A7E5757-62EE-478B-91A5-57E6D401BA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T = [1 0; −3 1]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blocks">
                <a:extLst>
                  <a:ext uri="{FF2B5EF4-FFF2-40B4-BE49-F238E27FC236}">
                    <a16:creationId xmlns:a16="http://schemas.microsoft.com/office/drawing/2014/main" id="{4362E7C7-BCD8-4E61-9867-8099515A1CA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190875"/>
                <a:ext cx="7810500" cy="666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𝑬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₂) = (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𝑻𝑨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𝑻𝑬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₂) = (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𝑻𝑨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blocks">
                <a:extLst xmlns:a="http://schemas.openxmlformats.org/drawingml/2006/main">
                  <a:ext uri="{FF2B5EF4-FFF2-40B4-BE49-F238E27FC236}">
                    <a16:creationId xmlns:a16="http://schemas.microsoft.com/office/drawing/2014/main" id="{4362E7C7-BCD8-4E61-9867-8099515A1C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190875"/>
                <a:ext cx="78105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T(A | E₂) = (TA | TE₂) = (TA | T)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values">
                <a:extLst>
                  <a:ext uri="{FF2B5EF4-FFF2-40B4-BE49-F238E27FC236}">
                    <a16:creationId xmlns:a16="http://schemas.microsoft.com/office/drawing/2014/main" id="{0AD9A98F-375F-463F-936B-5D6BA56139B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952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𝑻𝑨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， 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40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values">
                <a:extLst xmlns:a="http://schemas.openxmlformats.org/drawingml/2006/main">
                  <a:ext uri="{FF2B5EF4-FFF2-40B4-BE49-F238E27FC236}">
                    <a16:creationId xmlns:a16="http://schemas.microsoft.com/office/drawing/2014/main" id="{0AD9A98F-375F-463F-936B-5D6BA56139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048125"/>
                <a:ext cx="762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2 | 0 −2]  |  [1 0 | −3 1]</a:t>
                </a:r>
              </a:p>
            </p:txBody>
          </p:sp>
        </mc:Fallback>
      </mc:AlternateContent>
      <p:sp>
        <p:nvSpPr>
          <p:cNvPr id="7" name="conclusion">
            <a:extLst>
              <a:ext uri="{FF2B5EF4-FFF2-40B4-BE49-F238E27FC236}">
                <a16:creationId xmlns:a16="http://schemas.microsoft.com/office/drawing/2014/main" id="{CAAF5E3F-EA2D-4CAB-A9D6-B6E274D66242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7620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同一个左矩阵，同时作用于左右两个列块。</a:t>
            </a:r>
          </a:p>
        </p:txBody>
      </p:sp>
    </p:spTree>
    <p:extLst>
      <p:ext uri="{BB962C8B-B14F-4D97-AF65-F5344CB8AC3E}">
        <p14:creationId xmlns:p14="http://schemas.microsoft.com/office/powerpoint/2010/main" val="94909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B2836C90-723E-435A-93C1-C70630079829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同步变换的依据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56C317FD-0943-4BDB-9B82-A8D35C6F56DD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矩阵的初等变换，例1前的说明，p63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8559B779-0D70-4894-ADD2-E1F248D42A1A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5" name="product">
                <a:extLst>
                  <a:ext uri="{FF2B5EF4-FFF2-40B4-BE49-F238E27FC236}">
                    <a16:creationId xmlns:a16="http://schemas.microsoft.com/office/drawing/2014/main" id="{B0757999-51EA-4C00-B510-17C33C9291C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857375"/>
                <a:ext cx="7620000" cy="571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ₛ ⋯ 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₁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05" name="product">
                <a:extLst>
                  <a:ext uri="{FF2B5EF4-FFF2-40B4-BE49-F238E27FC236}">
                    <a16:creationId xmlns:a16="http://schemas.microsoft.com/office/drawing/2014/main" id="{B0757999-51EA-4C00-B510-17C33C9291C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857375"/>
                <a:ext cx="7620000" cy="571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P = Pₛ ⋯ P₂P₁</a:t>
                </a:r>
              </a:p>
            </p:txBody>
          </p:sp>
        </mc:Fallback>
      </mc:AlternateContent>
      <p:sp>
        <p:nvSpPr>
          <p:cNvPr id="1006" name="define">
            <a:extLst>
              <a:ext uri="{FF2B5EF4-FFF2-40B4-BE49-F238E27FC236}">
                <a16:creationId xmlns:a16="http://schemas.microsoft.com/office/drawing/2014/main" id="{B13674D8-B3BB-4367-8858-AABEE59ED06B}"/>
              </a:ext>
            </a:extLst>
          </p:cNvPr>
          <p:cNvSpPr>
            <a:spLocks noGrp="1"/>
          </p:cNvSpPr>
          <p:nvPr/>
        </p:nvSpPr>
        <p:spPr>
          <a:xfrm>
            <a:off x="762000" y="2524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把全部操作的乘积记为过程矩阵；它未必是初等矩阵。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7" name="dims">
                <a:extLst>
                  <a:ext uri="{FF2B5EF4-FFF2-40B4-BE49-F238E27FC236}">
                    <a16:creationId xmlns:a16="http://schemas.microsoft.com/office/drawing/2014/main" id="{A80F65CA-D9C6-4EDD-8FEE-4008C76C5E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238500"/>
                <a:ext cx="7620000" cy="523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0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：</m:t>
                      </m:r>
                      <m:r>
                        <a:rPr lang="en-US" sz="2100" b="0" i="1">
                          <a:solidFill>
                            <a:srgbClr val="196584"/>
                          </a:solidFill>
                          <a:latin typeface="Cambria Math"/>
                        </a:rPr>
                        <m:t>𝑚</m:t>
                      </m:r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 × </m:t>
                      </m:r>
                      <m:r>
                        <a:rPr lang="en-US" sz="2100" b="0" i="1">
                          <a:solidFill>
                            <a:srgbClr val="196584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；</m:t>
                      </m:r>
                      <m:r>
                        <a:rPr lang="en-US" sz="210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、</m:t>
                      </m:r>
                      <m:r>
                        <a:rPr lang="en-US" sz="2100" b="1" i="1">
                          <a:solidFill>
                            <a:srgbClr val="196584"/>
                          </a:solidFill>
                          <a:latin typeface="Cambria Math"/>
                        </a:rPr>
                        <m:t>𝑬</m:t>
                      </m:r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ₘ：</m:t>
                      </m:r>
                      <m:r>
                        <a:rPr lang="en-US" sz="2100" b="0" i="1">
                          <a:solidFill>
                            <a:srgbClr val="196584"/>
                          </a:solidFill>
                          <a:latin typeface="Cambria Math"/>
                        </a:rPr>
                        <m:t>𝑚</m:t>
                      </m:r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 × </m:t>
                      </m:r>
                      <m:r>
                        <a:rPr lang="en-US" sz="2100" b="0" i="1">
                          <a:solidFill>
                            <a:srgbClr val="196584"/>
                          </a:solidFill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07" name="dims">
                <a:extLst>
                  <a:ext uri="{FF2B5EF4-FFF2-40B4-BE49-F238E27FC236}">
                    <a16:creationId xmlns:a16="http://schemas.microsoft.com/office/drawing/2014/main" id="{A80F65CA-D9C6-4EDD-8FEE-4008C76C5E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238500"/>
                <a:ext cx="7620000" cy="523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A：m × n；P、Eₘ：m × m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8" name="blocks">
                <a:extLst>
                  <a:ext uri="{FF2B5EF4-FFF2-40B4-BE49-F238E27FC236}">
                    <a16:creationId xmlns:a16="http://schemas.microsoft.com/office/drawing/2014/main" id="{56D9B940-65F7-4366-A25D-F5279F482BB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𝑬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ₘ) = (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𝑷𝑨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𝑷𝑬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ₘ) = (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08" name="blocks">
                <a:extLst>
                  <a:ext uri="{FF2B5EF4-FFF2-40B4-BE49-F238E27FC236}">
                    <a16:creationId xmlns:a16="http://schemas.microsoft.com/office/drawing/2014/main" id="{56D9B940-65F7-4366-A25D-F5279F482BB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P(A | Eₘ) = (PA | PEₘ) = (F | P)</a:t>
                </a:r>
              </a:p>
            </p:txBody>
          </p:sp>
        </mc:Fallback>
      </mc:AlternateContent>
      <p:sp>
        <p:nvSpPr>
          <p:cNvPr id="1009" name="meaning">
            <a:extLst>
              <a:ext uri="{FF2B5EF4-FFF2-40B4-BE49-F238E27FC236}">
                <a16:creationId xmlns:a16="http://schemas.microsoft.com/office/drawing/2014/main" id="{BDC2F76B-645E-4A04-BCB7-D6459EBF4FF1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左块得到化简结果，右块记录同一整套操作。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EA2DEF7A-046D-432B-94D2-9292277EF6B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例1：同步变换的设置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51FE0D4C-855A-4729-B949-BEB7F5E817B9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矩阵的初等变换，例1，pp63—64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793C537D-2FD1-4711-9ED7-B769F9B4D180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11998D6F-5676-4ADE-B536-409D0D9C44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7620000" cy="1476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5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50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11998D6F-5676-4ADE-B536-409D0D9C44A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1476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A=[2  -1  -1; 1  1  -2; 4  -6  2]</a:t>
                </a:r>
              </a:p>
            </p:txBody>
          </p:sp>
        </mc:Fallback>
      </mc:AlternateContent>
      <p:sp>
        <p:nvSpPr>
          <p:cNvPr id="6" name="content-2">
            <a:extLst>
              <a:ext uri="{FF2B5EF4-FFF2-40B4-BE49-F238E27FC236}">
                <a16:creationId xmlns:a16="http://schemas.microsoft.com/office/drawing/2014/main" id="{45F2557B-B494-4947-AAE1-E678D0DC8E89}"/>
              </a:ext>
            </a:extLst>
          </p:cNvPr>
          <p:cNvSpPr>
            <a:spLocks noGrp="1"/>
          </p:cNvSpPr>
          <p:nvPr/>
        </p:nvSpPr>
        <p:spPr>
          <a:xfrm>
            <a:off x="762000" y="3952875"/>
            <a:ext cx="7620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求行最简形，并记录使其成立的行变换矩阵。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34C09BDA-615D-443C-918F-5489B31499B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958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𝑷𝑨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34C09BDA-615D-443C-918F-5489B31499B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095875"/>
                <a:ext cx="762000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PA=F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085A3B4A-05CC-4A3A-A456-D2AFA9A5E4C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例1：交换与消元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1E2B6732-BE55-404A-AFA8-5BA26334EDBC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矩阵的初等变换，例1，pp63—64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F15D7A53-54D2-455E-9886-F40CA326A1F9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F125516B-B1A2-42B4-BC10-AE91A5B223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95500"/>
                <a:ext cx="7620000" cy="1762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2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250" b="1" i="1">
                          <a:solidFill>
                            <a:srgbClr val="196584"/>
                          </a:solidFill>
                          <a:latin typeface="Cambria Math"/>
                        </a:rPr>
                        <m:t>𝑬</m:t>
                      </m:r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)→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5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50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F125516B-B1A2-42B4-BC10-AE91A5B223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95500"/>
                <a:ext cx="7620000" cy="1762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(A | E)→[1  1  -2  0  1  0; 0  -3  3  1  -2  0; 0  -10  10  0  -4  1]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30EEE9AD-8C8D-4AE3-9A40-CFDB360669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81500"/>
                <a:ext cx="7620000" cy="1047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↔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−2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−4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30EEE9AD-8C8D-4AE3-9A40-CFDB360669D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381500"/>
                <a:ext cx="762000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r₁↔ r₂;   r₂← r₂−2r₁;   r₃← r₃−4r₁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0C74E21B-DB80-4602-8C9C-128A8F6F572E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例1：建立第二个首元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91F885B6-D226-43F3-AC49-B8748580441B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矩阵的初等变换，例1，pp63—64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C688D67A-5DAD-4398-A69F-79F65445DDD2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5" name="op1">
                <a:extLst>
                  <a:ext uri="{FF2B5EF4-FFF2-40B4-BE49-F238E27FC236}">
                    <a16:creationId xmlns:a16="http://schemas.microsoft.com/office/drawing/2014/main" id="{5CFDD0C1-3BFA-44CA-9C9C-43729EDE4D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050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0" i="1">
                          <a:solidFill>
                            <a:srgbClr val="196584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₃ ← </m:t>
                      </m:r>
                      <m:r>
                        <a:rPr lang="en-US" sz="2175" b="0" i="1">
                          <a:solidFill>
                            <a:srgbClr val="196584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₃ − 3</m:t>
                      </m:r>
                      <m:r>
                        <a:rPr lang="en-US" sz="2175" b="0" i="1">
                          <a:solidFill>
                            <a:srgbClr val="196584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₂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05" name="op1">
                <a:extLst>
                  <a:ext uri="{FF2B5EF4-FFF2-40B4-BE49-F238E27FC236}">
                    <a16:creationId xmlns:a16="http://schemas.microsoft.com/office/drawing/2014/main" id="{5CFDD0C1-3BFA-44CA-9C9C-43729EDE4D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050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r₃ ← r₃ − 3r₂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6" name="mid">
                <a:extLst>
                  <a:ext uri="{FF2B5EF4-FFF2-40B4-BE49-F238E27FC236}">
                    <a16:creationId xmlns:a16="http://schemas.microsoft.com/office/drawing/2014/main" id="{C97E27A2-A9E5-486B-84E7-B2055E0C4E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sz="225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5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06" name="mid">
                <a:extLst>
                  <a:ext uri="{FF2B5EF4-FFF2-40B4-BE49-F238E27FC236}">
                    <a16:creationId xmlns:a16="http://schemas.microsoft.com/office/drawing/2014/main" id="{C97E27A2-A9E5-486B-84E7-B2055E0C4E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1 -2|0 1 0;0 -3 3|1 -2 0;0 -1 1|-3 2 1]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7" name="op2">
                <a:extLst>
                  <a:ext uri="{FF2B5EF4-FFF2-40B4-BE49-F238E27FC236}">
                    <a16:creationId xmlns:a16="http://schemas.microsoft.com/office/drawing/2014/main" id="{36415CBA-5476-4608-8567-D3E56EF99B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00" b="0" i="1">
                          <a:solidFill>
                            <a:srgbClr val="196584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₃ ← −</m:t>
                      </m:r>
                      <m:r>
                        <a:rPr lang="en-US" sz="2100" b="0" i="1">
                          <a:solidFill>
                            <a:srgbClr val="196584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2100" b="0" i="0">
                          <a:solidFill>
                            <a:srgbClr val="196584"/>
                          </a:solidFill>
                          <a:latin typeface="Cambria Math"/>
                        </a:rPr>
                        <m:t>₃（使用刚得到的新第三行）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07" name="op2">
                <a:extLst>
                  <a:ext uri="{FF2B5EF4-FFF2-40B4-BE49-F238E27FC236}">
                    <a16:creationId xmlns:a16="http://schemas.microsoft.com/office/drawing/2014/main" id="{36415CBA-5476-4608-8567-D3E56EF99B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r₃ ← −r₃（使用刚得到的新第三行）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8" name="end">
                <a:extLst>
                  <a:ext uri="{FF2B5EF4-FFF2-40B4-BE49-F238E27FC236}">
                    <a16:creationId xmlns:a16="http://schemas.microsoft.com/office/drawing/2014/main" id="{8DE25D9F-9AFC-409F-A1CC-778F386BC2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14875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sz="225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5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08" name="end">
                <a:extLst>
                  <a:ext uri="{FF2B5EF4-FFF2-40B4-BE49-F238E27FC236}">
                    <a16:creationId xmlns:a16="http://schemas.microsoft.com/office/drawing/2014/main" id="{8DE25D9F-9AFC-409F-A1CC-778F386BC2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14875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1 -2|0 1 0;0 -3 3|1 -2 0;0 1 -1|3 -2 -1]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7" grpId="0" animBg="1"/>
      <p:bldP spid="100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40CCF0FD-854D-4170-BD76-99187175C08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例1：行最简形与记录矩阵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D4040E84-4F28-4535-98F6-EFA6EAC7930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0D49CBD6-D450-4206-8B7C-76D35E7C7505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E6D780EF-34FB-420E-B586-BE418A7DDCB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1047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↔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+3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E6D780EF-34FB-420E-B586-BE418A7DDC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952625"/>
                <a:ext cx="762000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r₂↔ r₃;   r₃← r₃+3r₂;   r₁← r₁−r₂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26AE9B31-75F0-4E30-8EAE-0FE852807A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524250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26AE9B31-75F0-4E30-8EAE-0FE852807A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524250"/>
                <a:ext cx="7620000" cy="1809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(F | P)=[1  0  -1  -3  3  1; 0  1  -1  3  -2  -1; 0  0  0  10  -8  -3]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E35C93C-99AA-4770-9E98-595E0837B373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例1：乘法检验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1BC3BC5A-75C2-4761-82C4-0E8FB3D6455E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AA5D4E7E-2856-4151-9C87-A47ACE2CDD14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61DF4527-FE1F-44C0-B154-9989A37197E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47875"/>
                <a:ext cx="7620000" cy="1952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25" b="1" i="1">
                          <a:solidFill>
                            <a:srgbClr val="196584"/>
                          </a:solidFill>
                          <a:latin typeface="Cambria Math"/>
                        </a:rPr>
                        <m:t>𝑷𝑨</m:t>
                      </m:r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61DF4527-FE1F-44C0-B154-9989A37197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47875"/>
                <a:ext cx="7620000" cy="1952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PA=[-3  3  1; 3  -2  -1; 10  -8  -3][2  -1  -1; 1  1  -2; 4  -6  2]=[1  0  -1; 0  1  -1; 0  0  0]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D97F5584-A97E-416B-BF8F-18F093224BC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24375"/>
                <a:ext cx="7620000" cy="762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−3×2+3×1+1×4=1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D97F5584-A97E-416B-BF8F-18F093224B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524375"/>
                <a:ext cx="7620000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−3×2+3×1+1×4=1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9DF442B-7B4B-4983-A79A-DE9390A0292E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1.4 过程记录的不唯一性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3127A794-0756-4706-9FED-61ED3EB76DE7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· 例1末注，p.64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75776669-A807-4206-A88F-72BA268DAB52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3A7C1FCB-3813-4A7F-972E-44782F48F3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) —[</m:t>
                      </m:r>
                      <m:sSub>
                        <m:sSubPr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←2</m:t>
                      </m:r>
                      <m:sSub>
                        <m:sSubPr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]→ (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′)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3A7C1FCB-3813-4A7F-972E-44782F48F3A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952625"/>
                <a:ext cx="7620000" cy="714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(F | P) —[r₃←2r₃]→ (F | P′)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2C4953B-2132-43B9-93A3-4EA56E98A20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1666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7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, 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′=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7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−16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E2C4953B-2132-43B9-93A3-4EA56E98A20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857500"/>
                <a:ext cx="7620000" cy="1666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P=[-3  3  1; 3  -2  -1; 10  -8  -3],  P′=[-3  3  1; 3  -2  -1; 20  -16  -6]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C93A12A4-1F8E-4AD1-B25C-60B10009520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10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≠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′,   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𝑷𝑨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′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C93A12A4-1F8E-4AD1-B25C-60B10009520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810125"/>
                <a:ext cx="762000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P≠P′,   PA=P′A=F</a:t>
                </a:r>
              </a:p>
            </p:txBody>
          </p:sp>
        </mc:Fallback>
      </mc:AlternateContent>
      <p:sp>
        <p:nvSpPr>
          <p:cNvPr id="8" name="content-4">
            <a:extLst>
              <a:ext uri="{FF2B5EF4-FFF2-40B4-BE49-F238E27FC236}">
                <a16:creationId xmlns:a16="http://schemas.microsoft.com/office/drawing/2014/main" id="{2DEFC320-5103-4876-BD2A-AF2BB3EADD81}"/>
              </a:ext>
            </a:extLst>
          </p:cNvPr>
          <p:cNvSpPr>
            <a:spLocks noGrp="1"/>
          </p:cNvSpPr>
          <p:nvPr/>
        </p:nvSpPr>
        <p:spPr>
          <a:xfrm>
            <a:off x="762000" y="547687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行最简形唯一；操作过程及记录矩阵可以不同。
本例左块零行不变，右块第三行改变。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cture-title">
            <a:extLst>
              <a:ext uri="{FF2B5EF4-FFF2-40B4-BE49-F238E27FC236}">
                <a16:creationId xmlns:a16="http://schemas.microsoft.com/office/drawing/2014/main" id="{557D1B69-B8E2-45E4-8D27-810B58D6FFD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矩阵标准形的乘法表示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7122E2D9-E252-4ABA-8463-53A5FFD85BC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§1：标准形、初等矩阵与行列变换，pp.60–62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9901" name="standard-intro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任意 m×n 矩阵 A，均可经初等行、列变换化为标准形。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02" name="standard-form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14625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>
                          <a:solidFill>
                            <a:srgbClr val="196584"/>
                          </a:solidFill>
                          <a:latin typeface="Cambria Math"/>
                        </a:rPr>
                        <m:t>𝑷𝑨𝑸</m:t>
                      </m:r>
                      <m:r>
                        <a:rPr lang="en-US" sz="240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40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sz="240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𝑶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𝑶</m:t>
                                </m:r>
                              </m:e>
                              <m:e>
                                <m:r>
                                  <a:rPr lang="en-US" sz="240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𝑶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9902" name="standard-form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14625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PAQ=F=[E_r O; O O]</a:t>
                </a:r>
              </a:p>
            </p:txBody>
          </p:sp>
        </mc:Fallback>
      </mc:AlternateContent>
      <p:sp>
        <p:nvSpPr>
          <p:cNvPr id="9903" name="standard-records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P 记录行变换；Q 记录列变换。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04" name="standard-products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sz="2175">
                          <a:solidFill>
                            <a:srgbClr val="196584"/>
                          </a:solidFill>
                          <a:latin typeface="Cambria Math"/>
                        </a:rPr>
                        <m:t>⋯</m:t>
                      </m:r>
                      <m:sSub>
                        <m:sSubPr>
                          <m:ctrlP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175">
                          <a:solidFill>
                            <a:srgbClr val="196584"/>
                          </a:solidFill>
                          <a:latin typeface="Cambria Math"/>
                        </a:rPr>
                        <m:t>，  </m:t>
                      </m:r>
                      <m:r>
                        <a:rPr lang="en-US" sz="2175">
                          <a:solidFill>
                            <a:srgbClr val="196584"/>
                          </a:solidFill>
                          <a:latin typeface="Cambria Math"/>
                        </a:rPr>
                        <m:t>𝑸</m:t>
                      </m:r>
                      <m:r>
                        <a:rPr lang="en-US" sz="2175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𝑸</m:t>
                          </m:r>
                        </m:e>
                        <m:sub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𝑸</m:t>
                          </m:r>
                        </m:e>
                        <m:sub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175">
                          <a:solidFill>
                            <a:srgbClr val="196584"/>
                          </a:solidFill>
                          <a:latin typeface="Cambria Math"/>
                        </a:rPr>
                        <m:t>⋯</m:t>
                      </m:r>
                      <m:sSub>
                        <m:sSubPr>
                          <m:ctrlP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𝑸</m:t>
                          </m:r>
                        </m:e>
                        <m:sub>
                          <m:r>
                            <a:rPr lang="en-US" sz="2175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175"/>
              </a:p>
            </p:txBody>
          </p:sp>
        </mc:Choice>
        <mc:Fallback xmlns="">
          <p:sp>
            <p:nvSpPr>
              <p:cNvPr id="9904" name="standard-products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P=P_s…P_2P_1，Q=Q_1Q_2…Q_t</a:t>
                </a:r>
              </a:p>
            </p:txBody>
          </p:sp>
        </mc:Fallback>
      </mc:AlternateContent>
      <p:sp>
        <p:nvSpPr>
          <p:cNvPr id="9905" name="standard-boundary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行变换保持原方程组的解；列变换通常改变未知量的含义。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12DB1ABE-9A34-4AF2-A961-9FA09873A92C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例：两个方程组与同一个矩阵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AC551A3A-477E-4851-A013-C5A676852322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例1，pp.63–64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8EB06E60-0A92-4D57-8BED-C905EB5335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7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2 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，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7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2 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−1 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，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7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−1 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8EB06E60-0A92-4D57-8BED-C905EB5335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u=[2; -1]， v=[-1; 1]</a:t>
                </a:r>
              </a:p>
            </p:txBody>
          </p:sp>
        </mc:Fallback>
      </mc:AlternateContent>
      <p:sp>
        <p:nvSpPr>
          <p:cNvPr id="5" name="content-2">
            <a:extLst>
              <a:ext uri="{FF2B5EF4-FFF2-40B4-BE49-F238E27FC236}">
                <a16:creationId xmlns:a16="http://schemas.microsoft.com/office/drawing/2014/main" id="{C97308C8-D243-4565-BD10-18355BBC9ADC}"/>
              </a:ext>
            </a:extLst>
          </p:cNvPr>
          <p:cNvSpPr>
            <a:spLocks noGrp="1"/>
          </p:cNvSpPr>
          <p:nvPr/>
        </p:nvSpPr>
        <p:spPr>
          <a:xfrm>
            <a:off x="762000" y="3571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把刚求得的两个解依次作为列，记为C。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73E52F5-1CD3-41EA-86E6-CAD0F63A31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𝑪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−1 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， 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𝑨𝑪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0 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1 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𝑬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73E52F5-1CD3-41EA-86E6-CAD0F63A31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C=[2  -1; -1  1]， AC=[1  0; 0  1]=E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59230631-9652-4AD8-94DA-403B8DDDCEA1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这个C还能帮助求解其他右端项吗？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cture-title">
            <a:extLst>
              <a:ext uri="{FF2B5EF4-FFF2-40B4-BE49-F238E27FC236}">
                <a16:creationId xmlns:a16="http://schemas.microsoft.com/office/drawing/2014/main" id="{D59A75CF-3852-41C6-9C0D-1219E876A88D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随堂选择题 1：连续行变换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DC03F0CA-94EE-4AB2-9B83-6A99F0F5D091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性质1，p.62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910FB4B6-BA1E-450D-A866-9E9F53BF69B8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先交换第1、2行，再把第2行的2倍加到第3行。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1D796704-BE61-408A-8146-AD88F3DC08C3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相应初等矩阵分别为P₁、P₂，结果矩阵为：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B08B853-736A-4056-AF28-C93D486E20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524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.  </m:t>
                      </m:r>
                      <m:sSub>
                        <m:sSubPr>
                          <m:ctrlP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B08B853-736A-4056-AF28-C93D486E20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524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A.  P₁P₂A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B71B66F1-A41C-46BF-A217-8DC2058ECA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95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.  </m:t>
                      </m:r>
                      <m:sSub>
                        <m:sSubPr>
                          <m:ctrlP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B71B66F1-A41C-46BF-A217-8DC2058ECA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95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B.  P₂P₁A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14CF40D5-E9D6-48AB-82E5-2BF29B6DDC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𝑪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. 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sSub>
                        <m:sSubPr>
                          <m:ctrlP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14CF40D5-E9D6-48AB-82E5-2BF29B6DDC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C.  AP₁P₂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-6">
                <a:extLst>
                  <a:ext uri="{FF2B5EF4-FFF2-40B4-BE49-F238E27FC236}">
                    <a16:creationId xmlns:a16="http://schemas.microsoft.com/office/drawing/2014/main" id="{9C895C4E-CDF7-4C86-85CE-BF705D507F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238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𝑫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. 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sSub>
                        <m:sSubPr>
                          <m:ctrlP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1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content-6">
                <a:extLst>
                  <a:ext uri="{FF2B5EF4-FFF2-40B4-BE49-F238E27FC236}">
                    <a16:creationId xmlns:a16="http://schemas.microsoft.com/office/drawing/2014/main" id="{9C895C4E-CDF7-4C86-85CE-BF705D507F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238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D.  AP₂P₁</a:t>
                </a:r>
              </a:p>
            </p:txBody>
          </p:sp>
        </mc:Fallback>
      </mc:AlternateContent>
      <p:sp>
        <p:nvSpPr>
          <p:cNvPr id="10" name="content-7">
            <a:extLst>
              <a:ext uri="{FF2B5EF4-FFF2-40B4-BE49-F238E27FC236}">
                <a16:creationId xmlns:a16="http://schemas.microsoft.com/office/drawing/2014/main" id="{DF5AC0CA-45AF-4DA8-A7C6-4683E5775C71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请打开学习通作答。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57FCF-81A8-5512-91EF-000E01A4F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cture-title">
            <a:extLst>
              <a:ext uri="{FF2B5EF4-FFF2-40B4-BE49-F238E27FC236}">
                <a16:creationId xmlns:a16="http://schemas.microsoft.com/office/drawing/2014/main" id="{0B08CBFF-9707-2509-822F-600B58FECC6C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第一板块小结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4502F574-E9C3-A51D-0002-D801B63C5B3D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§1、§2、§5；第3章 §1 已授部分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B88134E6-88F3-D1BA-455A-8C278162D353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用矩阵表示线性关系，理解组合与变换。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EAD8462E-F039-6163-4DDC-243153E90A2E}"/>
              </a:ext>
            </a:extLst>
          </p:cNvPr>
          <p:cNvSpPr>
            <a:spLocks noGrp="1"/>
          </p:cNvSpPr>
          <p:nvPr/>
        </p:nvSpPr>
        <p:spPr>
          <a:xfrm>
            <a:off x="762000" y="2809875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  表示：把多个方程的系数组织成矩阵。</a:t>
            </a:r>
          </a:p>
        </p:txBody>
      </p:sp>
      <p:sp>
        <p:nvSpPr>
          <p:cNvPr id="6" name="content-3">
            <a:extLst>
              <a:ext uri="{FF2B5EF4-FFF2-40B4-BE49-F238E27FC236}">
                <a16:creationId xmlns:a16="http://schemas.microsoft.com/office/drawing/2014/main" id="{05C1E0AD-E307-85A0-F533-100194FFF930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5619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  运算：线性组合、矩阵乘法与变换复合。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A8929343-A36D-E18C-58D6-E8279427F76A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    分块：把多个向量或多组数据成批处理。</a:t>
            </a:r>
          </a:p>
        </p:txBody>
      </p:sp>
      <p:sp>
        <p:nvSpPr>
          <p:cNvPr id="8" name="content-5">
            <a:extLst>
              <a:ext uri="{FF2B5EF4-FFF2-40B4-BE49-F238E27FC236}">
                <a16:creationId xmlns:a16="http://schemas.microsoft.com/office/drawing/2014/main" id="{B2601D00-E9F2-F951-03CA-B50A3611D997}"/>
              </a:ext>
            </a:extLst>
          </p:cNvPr>
          <p:cNvSpPr>
            <a:spLocks noGrp="1"/>
          </p:cNvSpPr>
          <p:nvPr/>
        </p:nvSpPr>
        <p:spPr>
          <a:xfrm>
            <a:off x="762000" y="4619625"/>
            <a:ext cx="5619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  化简：行变换求解；行、列变换求标准形。</a:t>
            </a:r>
          </a:p>
        </p:txBody>
      </p:sp>
      <p:sp>
        <p:nvSpPr>
          <p:cNvPr id="9" name="content-6">
            <a:extLst>
              <a:ext uri="{FF2B5EF4-FFF2-40B4-BE49-F238E27FC236}">
                <a16:creationId xmlns:a16="http://schemas.microsoft.com/office/drawing/2014/main" id="{7913D3EB-1234-FFBB-69B6-005A3A652B5B}"/>
              </a:ext>
            </a:extLst>
          </p:cNvPr>
          <p:cNvSpPr>
            <a:spLocks noGrp="1"/>
          </p:cNvSpPr>
          <p:nvPr/>
        </p:nvSpPr>
        <p:spPr>
          <a:xfrm>
            <a:off x="1047750" y="514350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同步记录：将化简过程写成矩阵乘法。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E51DBCD-FCF9-763A-C624-307CB8C8D787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268039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cture-title">
            <a:extLst>
              <a:ext uri="{FF2B5EF4-FFF2-40B4-BE49-F238E27FC236}">
                <a16:creationId xmlns:a16="http://schemas.microsoft.com/office/drawing/2014/main" id="{557D1B69-B8E2-45E4-8D27-810B58D6FFD2}"/>
              </a:ext>
            </a:extLst>
          </p:cNvPr>
          <p:cNvSpPr>
            <a:spLocks noGrp="1"/>
          </p:cNvSpPr>
          <p:nvPr/>
        </p:nvSpPr>
        <p:spPr>
          <a:xfrm>
            <a:off x="1238250" y="523875"/>
            <a:ext cx="6096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4800" b="1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4800" b="1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4800" b="1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4800" b="1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4800" b="1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4800" b="1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4800" b="1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4800" b="1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4800" b="1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4800" b="1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4800" b="1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dirty="0" sz="4800" b="1">
                <a:solidFill>
                  <a:srgbClr val="196584"/>
                </a:solidFill>
              </a:rPr>
              <a:t>Congrats!</a:t>
            </a:r>
            <a:endParaRPr sz="4800" dirty="0" b="1">
              <a:solidFill>
                <a:srgbClr val="19658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content-7">
            <a:extLst>
              <a:ext uri="{FF2B5EF4-FFF2-40B4-BE49-F238E27FC236}">
                <a16:creationId xmlns:a16="http://schemas.microsoft.com/office/drawing/2014/main" id="{A12AF0A6-F33F-4191-8F7B-AC243FAEFAA4}"/>
              </a:ext>
            </a:extLst>
          </p:cNvPr>
          <p:cNvSpPr>
            <a:spLocks noGrp="1"/>
          </p:cNvSpPr>
          <p:nvPr/>
        </p:nvSpPr>
        <p:spPr>
          <a:xfrm>
            <a:off x="952500" y="6191250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2800" dirty="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rPr>
              <a:t>Section</a:t>
            </a:r>
            <a:r>
              <a:rPr lang="zh-CN" altLang="en-US" sz="2800" dirty="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2800" dirty="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lang="zh-CN" altLang="en-US" sz="2800" dirty="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dirty="0" sz="2800" b="0">
                <a:solidFill>
                  <a:srgbClr val="196584"/>
                </a:solidFill>
              </a:rPr>
              <a:t>is </a:t>
            </a:r>
            <a:r>
              <a:rPr lang="en-US" altLang="zh-CN" sz="2800" dirty="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rPr>
              <a:t>Completed~</a:t>
            </a:r>
            <a:endParaRPr sz="2800" dirty="0" b="0">
              <a:solidFill>
                <a:srgbClr val="196584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901" name="第一板块完成插画" descr="两只小鸟击掌，庆祝第一板块完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7162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2009</Words>
  <Application>Microsoft Macintosh PowerPoint</Application>
  <DocSecurity>0</DocSecurity>
  <PresentationFormat>On-screen Show (4:3)</PresentationFormat>
  <Paragraphs>206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微软雅黑</vt:lpstr>
      <vt:lpstr>Arial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Quan Guo</cp:lastModifiedBy>
  <cp:revision>3</cp:revision>
  <dcterms:created xsi:type="dcterms:W3CDTF">2026-10-18T20:11:28Z</dcterms:created>
  <dcterms:modified xsi:type="dcterms:W3CDTF">2026-10-28T03:15:57Z</dcterms:modified>
</cp:coreProperties>
</file>